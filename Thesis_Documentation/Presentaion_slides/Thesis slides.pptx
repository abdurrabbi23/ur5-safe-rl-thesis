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Times New Roman Bold" panose="02020803070505020304" pitchFamily="18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803D"/>
    <a:srgbClr val="125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19" autoAdjust="0"/>
    <p:restoredTop sz="94622" autoAdjust="0"/>
  </p:normalViewPr>
  <p:slideViewPr>
    <p:cSldViewPr>
      <p:cViewPr varScale="1">
        <p:scale>
          <a:sx n="36" d="100"/>
          <a:sy n="36" d="100"/>
        </p:scale>
        <p:origin x="66" y="11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28177" y="6515100"/>
            <a:ext cx="1431643" cy="1639128"/>
          </a:xfrm>
          <a:custGeom>
            <a:avLst/>
            <a:gdLst/>
            <a:ahLst/>
            <a:cxnLst/>
            <a:rect l="l" t="t" r="r" b="b"/>
            <a:pathLst>
              <a:path w="1431643" h="1639128">
                <a:moveTo>
                  <a:pt x="0" y="0"/>
                </a:moveTo>
                <a:lnTo>
                  <a:pt x="1431644" y="0"/>
                </a:lnTo>
                <a:lnTo>
                  <a:pt x="1431644" y="1639127"/>
                </a:lnTo>
                <a:lnTo>
                  <a:pt x="0" y="163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652285"/>
            <a:ext cx="16230600" cy="236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Evaluation of Constrained and Unconstrained Deep Reinforcement Learning for Safe Robotic Grasping on a UR5e Manipulator in Simulation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25302" y="6173473"/>
            <a:ext cx="3281596" cy="197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0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 ABDUR RABBI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Roll: 2031023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9122" y="6268723"/>
            <a:ext cx="5475117" cy="214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by,</a:t>
            </a:r>
          </a:p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Priyo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Nath Roy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Mechatronics Engineering</a:t>
            </a:r>
          </a:p>
        </p:txBody>
      </p:sp>
      <p:sp>
        <p:nvSpPr>
          <p:cNvPr id="6" name="AutoShape 6"/>
          <p:cNvSpPr/>
          <p:nvPr/>
        </p:nvSpPr>
        <p:spPr>
          <a:xfrm>
            <a:off x="6543629" y="5124450"/>
            <a:ext cx="52007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4592848" y="8896465"/>
            <a:ext cx="91023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Khulna University of Engineering &amp; Technology, Khulna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3875" y="5124450"/>
            <a:ext cx="4860248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of defense: 08 August,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08042" y="2551667"/>
            <a:ext cx="7413145" cy="4954033"/>
          </a:xfrm>
          <a:custGeom>
            <a:avLst/>
            <a:gdLst/>
            <a:ahLst/>
            <a:cxnLst/>
            <a:rect l="l" t="t" r="r" b="b"/>
            <a:pathLst>
              <a:path w="7794145" h="5183666">
                <a:moveTo>
                  <a:pt x="0" y="0"/>
                </a:moveTo>
                <a:lnTo>
                  <a:pt x="7794145" y="0"/>
                </a:lnTo>
                <a:lnTo>
                  <a:pt x="7794145" y="5183666"/>
                </a:lnTo>
                <a:lnTo>
                  <a:pt x="0" y="518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53607"/>
            <a:ext cx="3556893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3710" y="1477796"/>
            <a:ext cx="16230600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UR5: A collaborative arm that shares space with people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107" y="2137261"/>
            <a:ext cx="8128893" cy="300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6-DOF, 5 kg payload, 850 mm reach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joint velocity 180 deg/s (𝜋 rad/s) 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±360° working limit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next to people, not behind a fence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0096" y="6094945"/>
            <a:ext cx="7838914" cy="68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Reinforcement Learning (RL) to train robots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5107" y="659348"/>
            <a:ext cx="33147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5107" y="1456277"/>
            <a:ext cx="16230600" cy="542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Let’s not just train a polity based on reward and penalty - start adding constraints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5107" y="2137261"/>
            <a:ext cx="8128893" cy="300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6-DOF, 5 kg payload, 850 mm reach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joint velocity 180 deg/s (𝜋 rad/s) 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±360° working limit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next to people, not behind a fence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0096" y="6094945"/>
            <a:ext cx="7838914" cy="68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Reinforcement Learning (RL) to train robots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733" y="555584"/>
            <a:ext cx="25527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35354" y="4030818"/>
            <a:ext cx="15217292" cy="5837082"/>
            <a:chOff x="0" y="0"/>
            <a:chExt cx="20289723" cy="7782777"/>
          </a:xfrm>
        </p:grpSpPr>
        <p:grpSp>
          <p:nvGrpSpPr>
            <p:cNvPr id="7" name="Group 7"/>
            <p:cNvGrpSpPr/>
            <p:nvPr/>
          </p:nvGrpSpPr>
          <p:grpSpPr>
            <a:xfrm>
              <a:off x="5138580" y="134272"/>
              <a:ext cx="743230" cy="62402"/>
              <a:chOff x="0" y="0"/>
              <a:chExt cx="332740" cy="279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1A1A"/>
              </a:solidFill>
            </p:spPr>
          </p:sp>
        </p:grpSp>
        <p:sp>
          <p:nvSpPr>
            <p:cNvPr id="9" name="Freeform 9"/>
            <p:cNvSpPr/>
            <p:nvPr/>
          </p:nvSpPr>
          <p:spPr>
            <a:xfrm>
              <a:off x="903639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8824347" y="134272"/>
              <a:ext cx="743230" cy="62402"/>
              <a:chOff x="0" y="0"/>
              <a:chExt cx="332740" cy="2794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257A8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12418820" y="134272"/>
              <a:ext cx="743230" cy="62402"/>
              <a:chOff x="0" y="0"/>
              <a:chExt cx="332740" cy="2794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803D"/>
              </a:solidFill>
            </p:spPr>
          </p:sp>
        </p:grpSp>
        <p:sp>
          <p:nvSpPr>
            <p:cNvPr id="14" name="Freeform 14"/>
            <p:cNvSpPr/>
            <p:nvPr/>
          </p:nvSpPr>
          <p:spPr>
            <a:xfrm>
              <a:off x="7997467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5018882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502951" y="1587368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2951" y="2753328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2951" y="3919310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2951" y="5085291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2951" y="6251251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6123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02904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38341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2434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89609" y="1137426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89609" y="2415872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89609" y="3694339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9609" y="4972806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89609" y="6251251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20074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66875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02312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26405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098976" y="213456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098976" y="350679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098976" y="487902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098976" y="6251251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84045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630846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166283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92872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56843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320815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 rot="-5400000">
              <a:off x="-1207162" y="3737786"/>
              <a:ext cx="2824712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contribution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45569" y="597941"/>
              <a:ext cx="2519531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(a) Singularity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74027" y="597941"/>
              <a:ext cx="2387578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(b) Joint limit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638825" y="597941"/>
              <a:ext cx="2182287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(c) Collision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22929" y="-57150"/>
              <a:ext cx="2092716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PPO (baseline)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08718" y="-57150"/>
              <a:ext cx="1999315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cPPO (d = 25)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403191" y="-57150"/>
              <a:ext cx="1999315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cPPO (d = 15)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D04EAA1-0C4F-FEE4-F2ED-D22755DACE5A}"/>
              </a:ext>
            </a:extLst>
          </p:cNvPr>
          <p:cNvGrpSpPr/>
          <p:nvPr/>
        </p:nvGrpSpPr>
        <p:grpSpPr>
          <a:xfrm>
            <a:off x="3272500" y="1228777"/>
            <a:ext cx="10876019" cy="2407424"/>
            <a:chOff x="3297181" y="942975"/>
            <a:chExt cx="10312570" cy="252261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61C3749-D891-07B1-E44B-D0B6CE01CEFC}"/>
                </a:ext>
              </a:extLst>
            </p:cNvPr>
            <p:cNvGrpSpPr/>
            <p:nvPr/>
          </p:nvGrpSpPr>
          <p:grpSpPr>
            <a:xfrm>
              <a:off x="6377662" y="942975"/>
              <a:ext cx="7232089" cy="494110"/>
              <a:chOff x="6377662" y="942975"/>
              <a:chExt cx="7232089" cy="494110"/>
            </a:xfrm>
          </p:grpSpPr>
          <p:sp>
            <p:nvSpPr>
              <p:cNvPr id="3" name="TextBox 3"/>
              <p:cNvSpPr txBox="1"/>
              <p:nvPr/>
            </p:nvSpPr>
            <p:spPr>
              <a:xfrm>
                <a:off x="6377662" y="942975"/>
                <a:ext cx="2947209" cy="49411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000" b="1" u="sng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Mean Reward:</a:t>
                </a: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9656620" y="942975"/>
                <a:ext cx="3953131" cy="49411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200"/>
                  </a:lnSpc>
                </a:pPr>
                <a:r>
                  <a:rPr lang="en-US" sz="3000" b="1" u="sng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Lifting-object reward: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0273755-2D07-7A34-DBB9-C24D3631FDAF}"/>
                </a:ext>
              </a:extLst>
            </p:cNvPr>
            <p:cNvGrpSpPr/>
            <p:nvPr/>
          </p:nvGrpSpPr>
          <p:grpSpPr>
            <a:xfrm>
              <a:off x="3297181" y="1632417"/>
              <a:ext cx="8670092" cy="1833168"/>
              <a:chOff x="3297181" y="1632417"/>
              <a:chExt cx="8670092" cy="1833168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3297181" y="1632614"/>
                <a:ext cx="3080481" cy="183297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605132" lvl="1" indent="-302566" algn="r">
                  <a:lnSpc>
                    <a:spcPts val="4904"/>
                  </a:lnSpc>
                  <a:buFont typeface="Arial"/>
                  <a:buChar char="•"/>
                </a:pPr>
                <a:r>
                  <a:rPr lang="en-US" sz="2802" b="1" dirty="0">
                    <a:solidFill>
                      <a:srgbClr val="FF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PPO(baseline) : </a:t>
                </a:r>
              </a:p>
              <a:p>
                <a:pPr marL="605132" lvl="1" indent="-302566" algn="r">
                  <a:lnSpc>
                    <a:spcPts val="4904"/>
                  </a:lnSpc>
                  <a:buFont typeface="Arial"/>
                  <a:buChar char="•"/>
                </a:pPr>
                <a:r>
                  <a:rPr lang="en-US" sz="2802" b="1" dirty="0" err="1">
                    <a:solidFill>
                      <a:srgbClr val="1257A8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cPPO</a:t>
                </a:r>
                <a:r>
                  <a:rPr lang="en-US" sz="2802" b="1" dirty="0">
                    <a:solidFill>
                      <a:srgbClr val="1257A8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(d=25) : </a:t>
                </a:r>
              </a:p>
              <a:p>
                <a:pPr marL="605132" lvl="1" indent="-302566" algn="r">
                  <a:lnSpc>
                    <a:spcPts val="4904"/>
                  </a:lnSpc>
                  <a:buFont typeface="Arial"/>
                  <a:buChar char="•"/>
                </a:pPr>
                <a:r>
                  <a:rPr lang="en-US" sz="2802" b="1" dirty="0" err="1">
                    <a:solidFill>
                      <a:srgbClr val="17803D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cPPO</a:t>
                </a:r>
                <a:r>
                  <a:rPr lang="en-US" sz="2802" b="1" dirty="0">
                    <a:solidFill>
                      <a:srgbClr val="17803D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(d=15) : 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317838" y="1632417"/>
                <a:ext cx="1066856" cy="183316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900"/>
                  </a:lnSpc>
                </a:pPr>
                <a:r>
                  <a:rPr lang="en-US" sz="2800" b="1" dirty="0">
                    <a:solidFill>
                      <a:srgbClr val="FF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133.06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2800" b="1" dirty="0">
                    <a:solidFill>
                      <a:srgbClr val="1257A8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132.18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2800" b="1" dirty="0">
                    <a:solidFill>
                      <a:srgbClr val="17803D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134.09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 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989332" y="1632417"/>
                <a:ext cx="977941" cy="183316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900"/>
                  </a:lnSpc>
                </a:pPr>
                <a:r>
                  <a:rPr lang="en-US" sz="2800" b="1" dirty="0">
                    <a:solidFill>
                      <a:srgbClr val="FF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9.467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 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2800" b="1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 </a:t>
                </a:r>
                <a:r>
                  <a:rPr lang="en-US" sz="2800" b="1" dirty="0">
                    <a:solidFill>
                      <a:srgbClr val="1257A8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9.437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 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2800" b="1" dirty="0">
                    <a:solidFill>
                      <a:srgbClr val="17803D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9.441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 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0215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9830" y="9368103"/>
            <a:ext cx="5294211" cy="44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*Tail mean(last 10% of the training  data)</a:t>
            </a:r>
          </a:p>
        </p:txBody>
      </p:sp>
      <p:sp>
        <p:nvSpPr>
          <p:cNvPr id="4" name="Freeform 4"/>
          <p:cNvSpPr/>
          <p:nvPr/>
        </p:nvSpPr>
        <p:spPr>
          <a:xfrm>
            <a:off x="431440" y="2864730"/>
            <a:ext cx="17425120" cy="13889272"/>
          </a:xfrm>
          <a:custGeom>
            <a:avLst/>
            <a:gdLst/>
            <a:ahLst/>
            <a:cxnLst/>
            <a:rect l="l" t="t" r="r" b="b"/>
            <a:pathLst>
              <a:path w="17425120" h="13889272">
                <a:moveTo>
                  <a:pt x="0" y="0"/>
                </a:moveTo>
                <a:lnTo>
                  <a:pt x="17425120" y="0"/>
                </a:lnTo>
                <a:lnTo>
                  <a:pt x="17425120" y="13889272"/>
                </a:lnTo>
                <a:lnTo>
                  <a:pt x="0" y="13889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25110" y="1215763"/>
            <a:ext cx="13437781" cy="124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constraint costs nothing measurable</a:t>
            </a:r>
          </a:p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Constraining the policy did not cost task performance at either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4922" y="2095124"/>
            <a:ext cx="11059709" cy="7984266"/>
          </a:xfrm>
          <a:custGeom>
            <a:avLst/>
            <a:gdLst/>
            <a:ahLst/>
            <a:cxnLst/>
            <a:rect l="l" t="t" r="r" b="b"/>
            <a:pathLst>
              <a:path w="11059709" h="7984266">
                <a:moveTo>
                  <a:pt x="0" y="0"/>
                </a:moveTo>
                <a:lnTo>
                  <a:pt x="11059709" y="0"/>
                </a:lnTo>
                <a:lnTo>
                  <a:pt x="11059709" y="7984266"/>
                </a:lnTo>
                <a:lnTo>
                  <a:pt x="0" y="798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" t="-98" b="-9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30215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9326" y="1215763"/>
            <a:ext cx="10389348" cy="124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Safety: fewer true singularities, zero joint-limit contact</a:t>
            </a:r>
          </a:p>
          <a:p>
            <a:pPr algn="ctr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571500"/>
            <a:ext cx="31623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85570" y="1450496"/>
            <a:ext cx="14843761" cy="12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stated budget changes what a policy does — mostly by making it predictable</a:t>
            </a:r>
          </a:p>
          <a:p>
            <a:pPr algn="ctr">
              <a:lnSpc>
                <a:spcPts val="4899"/>
              </a:lnSpc>
            </a:pPr>
            <a:endParaRPr lang="en-US" sz="34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0215"/>
            <a:ext cx="39243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Resources: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389066"/>
            <a:ext cx="16230600" cy="863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Altman, E. (1999). Constrained Markov Decision Processes. Chapman &amp; Hall/CRC.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Schulman, J. et al. (2017). Proximal Policy Optimization Algorithms. arXiv:1707.06347.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Achiam, J. et al. (2017). Constrained Policy Optimization. Proc. ICML, PMLR 70.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Ray, A., Achiam, J., &amp; Amodei, D. (2019). Benchmarking Safe Exploration in Deep RL. OpenAI.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Stooke, A., Achiam, J., &amp; Abbeel, P. (2020). Responsive Safety in RL by PID Lagrangian Methods. Proc. ICML, PMLR 119.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Yoshikawa, T. (1985). Manipulability of Robotic Mechanisms. Int. J. Robotics Research, 4(2).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Henderson, P. et al. (2018). Deep Reinforcement Learning That Matters. Proc. AAAI 32(1).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Khan, F. et al. (2026). RL for Precision Grasping and Safety-Critical Coordination in a Robotic Arm. Intelligent Service Robotics, 19(16).</a:t>
            </a:r>
          </a:p>
          <a:p>
            <a:pPr algn="l">
              <a:lnSpc>
                <a:spcPts val="525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Shen, Y. et al. (2022). RL-Based Reactive Obstacle Avoidance for Redundant Manipulators. Entropy, 24(2).</a:t>
            </a:r>
          </a:p>
          <a:p>
            <a:pPr algn="l">
              <a:lnSpc>
                <a:spcPts val="525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0215"/>
            <a:ext cx="40005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Resources: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389066"/>
            <a:ext cx="16230600" cy="9173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Xia, W. et al. (2024). Deep RL Based Proactive Dynamic Obstacle Avoidance for Safe Human-Robot Collaboration. Manufacturing Letters, 41.</a:t>
            </a:r>
          </a:p>
          <a:p>
            <a:pPr algn="l">
              <a:lnSpc>
                <a:spcPts val="524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Ferreira, H. C. &amp; Barbosa, R. S. (2025). Deep RL for Adaptive Robotic Grasping in Simulated Dynamic Environments. Future Internet, 17(10).</a:t>
            </a:r>
          </a:p>
          <a:p>
            <a:pPr algn="l">
              <a:lnSpc>
                <a:spcPts val="524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Shahid, A. A. et al. (2022). Continuous Control Actions Learning and Adaptation for Robotic Manipulation through RL. Autonomous Robots, 46.</a:t>
            </a:r>
          </a:p>
          <a:p>
            <a:pPr algn="l">
              <a:lnSpc>
                <a:spcPts val="524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Mittal, M. et al. (2023). Orbit: A Unified Simulation Framework for Interactive Robot Learning Environments. IEEE RA-L, 8(6).</a:t>
            </a:r>
          </a:p>
          <a:p>
            <a:pPr algn="l">
              <a:lnSpc>
                <a:spcPts val="524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Rudin, N. et al. (2022). Learning to Walk in Minutes Using Massively Parallel Deep RL. Proc.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CoRL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PMLR </a:t>
            </a:r>
          </a:p>
          <a:p>
            <a:pPr algn="l">
              <a:lnSpc>
                <a:spcPts val="524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Universal Robots A/S (2023). UR5e Technical Specifications. Product datasheet.</a:t>
            </a:r>
          </a:p>
          <a:p>
            <a:pPr algn="l">
              <a:lnSpc>
                <a:spcPts val="524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[16] Khan, M. M. (2025). Enhancing Manipulator Control Through IBVS Techniques Using ROS2. BSc thesis, KUET.</a:t>
            </a:r>
          </a:p>
          <a:p>
            <a:pPr algn="l">
              <a:lnSpc>
                <a:spcPts val="5249"/>
              </a:lnSpc>
            </a:pP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70611" y="3571860"/>
            <a:ext cx="8946778" cy="157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9"/>
              </a:lnSpc>
            </a:pPr>
            <a:r>
              <a:rPr lang="en-US" sz="8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776</Words>
  <Application>Microsoft Office PowerPoint</Application>
  <PresentationFormat>Custom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slides</dc:title>
  <cp:lastModifiedBy>Touhid Me</cp:lastModifiedBy>
  <cp:revision>5</cp:revision>
  <dcterms:created xsi:type="dcterms:W3CDTF">2006-08-16T00:00:00Z</dcterms:created>
  <dcterms:modified xsi:type="dcterms:W3CDTF">2026-08-06T18:58:32Z</dcterms:modified>
  <dc:identifier>DAHRbLu5xN4</dc:identifier>
</cp:coreProperties>
</file>