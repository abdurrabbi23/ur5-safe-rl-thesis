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1"/>
  </p:notesMasterIdLst>
  <p:sldIdLst>
    <p:sldId id="270" r:id="rId2"/>
    <p:sldId id="271" r:id="rId3"/>
    <p:sldId id="272" r:id="rId4"/>
    <p:sldId id="273" r:id="rId5"/>
    <p:sldId id="260" r:id="rId6"/>
    <p:sldId id="259" r:id="rId7"/>
    <p:sldId id="280" r:id="rId8"/>
    <p:sldId id="261" r:id="rId9"/>
    <p:sldId id="278" r:id="rId10"/>
    <p:sldId id="279" r:id="rId11"/>
    <p:sldId id="28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8288000" cy="10287000"/>
  <p:notesSz cx="6858000" cy="9144000"/>
  <p:embeddedFontLst>
    <p:embeddedFont>
      <p:font typeface="Times New Roman Bold" panose="02020803070505020304" pitchFamily="18" charset="0"/>
      <p:regular r:id="rId22"/>
      <p:bold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F4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330" autoAdjust="0"/>
    <p:restoredTop sz="94622" autoAdjust="0"/>
  </p:normalViewPr>
  <p:slideViewPr>
    <p:cSldViewPr>
      <p:cViewPr varScale="1">
        <p:scale>
          <a:sx n="70" d="100"/>
          <a:sy n="70" d="100"/>
        </p:scale>
        <p:origin x="125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1A18BB-8BE7-4C7A-B3AF-66511F60AD35}" type="datetimeFigureOut">
              <a:rPr lang="en-GB" smtClean="0"/>
              <a:t>07/08/2026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FCAC75-1D01-4395-A78B-1ABF48ECDE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18760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428177" y="6515100"/>
            <a:ext cx="1431643" cy="1639128"/>
          </a:xfrm>
          <a:custGeom>
            <a:avLst/>
            <a:gdLst/>
            <a:ahLst/>
            <a:cxnLst/>
            <a:rect l="l" t="t" r="r" b="b"/>
            <a:pathLst>
              <a:path w="1431643" h="1639128">
                <a:moveTo>
                  <a:pt x="0" y="0"/>
                </a:moveTo>
                <a:lnTo>
                  <a:pt x="1431644" y="0"/>
                </a:lnTo>
                <a:lnTo>
                  <a:pt x="1431644" y="1639127"/>
                </a:lnTo>
                <a:lnTo>
                  <a:pt x="0" y="16391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1652285"/>
            <a:ext cx="16230600" cy="2362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629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99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Comparative Evaluation of Constrained and Unconstrained Deep Reinforcement Learning for Safe Robotic Grasping on a UR5e Manipulator in Simulation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125302" y="6173473"/>
            <a:ext cx="3281596" cy="1971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52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Presented by,</a:t>
            </a:r>
          </a:p>
          <a:p>
            <a:pPr marL="0" marR="0" lvl="0" indent="0" algn="l" defTabSz="914400" rtl="0" eaLnBrk="1" fontAlgn="auto" latinLnBrk="0" hangingPunct="1">
              <a:lnSpc>
                <a:spcPts val="52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MD ABDUR RABBI</a:t>
            </a:r>
          </a:p>
          <a:p>
            <a:pPr marL="0" marR="0" lvl="0" indent="0" algn="l" defTabSz="914400" rtl="0" eaLnBrk="1" fontAlgn="auto" latinLnBrk="0" hangingPunct="1">
              <a:lnSpc>
                <a:spcPts val="52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Roll: 2031023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79122" y="6268723"/>
            <a:ext cx="5475117" cy="214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Supervised by,</a:t>
            </a:r>
          </a:p>
          <a:p>
            <a:pPr marL="0" marR="0" lvl="0" indent="0" algn="l" defTabSz="914400" rtl="0" eaLnBrk="1" fontAlgn="auto" latinLnBrk="0" hangingPunct="1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Priyo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 Nath Roy</a:t>
            </a:r>
          </a:p>
          <a:p>
            <a:pPr marL="0" marR="0" lvl="0" indent="0" algn="l" defTabSz="914400" rtl="0" eaLnBrk="1" fontAlgn="auto" latinLnBrk="0" hangingPunct="1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Assistant Professor</a:t>
            </a:r>
          </a:p>
          <a:p>
            <a:pPr marL="0" marR="0" lvl="0" indent="0" algn="l" defTabSz="914400" rtl="0" eaLnBrk="1" fontAlgn="auto" latinLnBrk="0" hangingPunct="1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Dept. of Mechatronics Engineering</a:t>
            </a:r>
          </a:p>
        </p:txBody>
      </p:sp>
      <p:sp>
        <p:nvSpPr>
          <p:cNvPr id="6" name="AutoShape 6"/>
          <p:cNvSpPr/>
          <p:nvPr/>
        </p:nvSpPr>
        <p:spPr>
          <a:xfrm>
            <a:off x="6543629" y="5124450"/>
            <a:ext cx="520074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4592848" y="8896465"/>
            <a:ext cx="9102300" cy="4941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Khulna University of Engineering &amp; Technology, Khulna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713875" y="5124450"/>
            <a:ext cx="4860248" cy="4117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Date of defense: 08 August,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308042" y="2551667"/>
            <a:ext cx="7413145" cy="4954033"/>
          </a:xfrm>
          <a:custGeom>
            <a:avLst/>
            <a:gdLst/>
            <a:ahLst/>
            <a:cxnLst/>
            <a:rect l="l" t="t" r="r" b="b"/>
            <a:pathLst>
              <a:path w="7794145" h="5183666">
                <a:moveTo>
                  <a:pt x="0" y="0"/>
                </a:moveTo>
                <a:lnTo>
                  <a:pt x="7794145" y="0"/>
                </a:lnTo>
                <a:lnTo>
                  <a:pt x="7794145" y="5183666"/>
                </a:lnTo>
                <a:lnTo>
                  <a:pt x="0" y="51836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653607"/>
            <a:ext cx="3556893" cy="6588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55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999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 Bold"/>
                <a:ea typeface="Times New Roman Bold"/>
                <a:cs typeface="Times New Roman Bold"/>
                <a:sym typeface="Times New Roman Bold"/>
              </a:rPr>
              <a:t>Introduction: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83710" y="1477796"/>
            <a:ext cx="16230600" cy="494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 Bold"/>
                <a:ea typeface="Times New Roman Bold"/>
                <a:cs typeface="Times New Roman Bold"/>
                <a:sym typeface="Times New Roman Bold"/>
              </a:rPr>
              <a:t>UR5: A collaborative arm that shares space with people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15107" y="2137261"/>
            <a:ext cx="8128893" cy="3000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2" marR="0" lvl="1" indent="-323851" algn="l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3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6-DOF, 5 kg payload, 850 mm reach</a:t>
            </a:r>
          </a:p>
          <a:p>
            <a:pPr marL="647702" marR="0" lvl="1" indent="-323851" algn="l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3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Max joint velocity 180 deg/s (𝜋 rad/s) </a:t>
            </a:r>
          </a:p>
          <a:p>
            <a:pPr marL="647702" marR="0" lvl="1" indent="-323851" algn="l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3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with ±360° working limit</a:t>
            </a:r>
          </a:p>
          <a:p>
            <a:pPr marL="647702" marR="0" lvl="1" indent="-323851" algn="l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3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Works next to people, not behind a fence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60096" y="6094945"/>
            <a:ext cx="7838914" cy="686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5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We use Reinforcement Learning (RL) to train robots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15107" y="659348"/>
            <a:ext cx="3314700" cy="6588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55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999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 Bold"/>
                <a:ea typeface="Times New Roman Bold"/>
                <a:cs typeface="Times New Roman Bold"/>
                <a:sym typeface="Times New Roman Bold"/>
              </a:rPr>
              <a:t>Background: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85800" y="7359016"/>
            <a:ext cx="16230600" cy="494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marR="0" lvl="0" indent="-457200" algn="ctr" defTabSz="914400" rtl="0" eaLnBrk="1" fontAlgn="auto" latinLnBrk="0" hangingPunct="1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3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Let’s not just train a polity based on reward and penalty - </a:t>
            </a:r>
            <a:r>
              <a:rPr kumimoji="0" lang="en-US" sz="300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start adding constraints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15107" y="1943100"/>
            <a:ext cx="14468314" cy="984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4350" indent="-514350" algn="ctr">
              <a:buFont typeface="Wingdings" panose="05000000000000000000" pitchFamily="2" charset="2"/>
              <a:buChar char="q"/>
            </a:pPr>
            <a:r>
              <a:rPr lang="en-FI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Reward shapes Policy but Constrains add safety with consistency</a:t>
            </a: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ctr">
              <a:buFont typeface="Wingdings" panose="05000000000000000000" pitchFamily="2" charset="2"/>
              <a:buChar char="q"/>
            </a:pP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D133C7-5E4D-874C-38E0-442F805E1672}"/>
              </a:ext>
            </a:extLst>
          </p:cNvPr>
          <p:cNvSpPr txBox="1"/>
          <p:nvPr/>
        </p:nvSpPr>
        <p:spPr>
          <a:xfrm>
            <a:off x="2667000" y="2781300"/>
            <a:ext cx="11506200" cy="3892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learned policy can't be inspected like a hand-coded controller — its behaviour is only known statistically</a:t>
            </a:r>
            <a:r>
              <a:rPr lang="en-FI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Safety on this class of arm is already an active industrial requirement, not a hypothetical</a:t>
            </a:r>
            <a:endParaRPr lang="en-FI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Validated only by trial and error, after the fact</a:t>
            </a:r>
            <a:endParaRPr lang="en-FI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thesis tests the alternative: pull safety out of the reward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84B52-18DD-06CA-72C2-9DFAECB88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1B33DF3C-60D7-EB04-9673-6B20C0BE9D5F}"/>
              </a:ext>
            </a:extLst>
          </p:cNvPr>
          <p:cNvSpPr txBox="1"/>
          <p:nvPr/>
        </p:nvSpPr>
        <p:spPr>
          <a:xfrm>
            <a:off x="990600" y="693594"/>
            <a:ext cx="4495800" cy="6588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FI" sz="3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Literature Review</a:t>
            </a:r>
            <a:r>
              <a:rPr lang="en-US" sz="3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: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9D7564B-1FB6-760E-C83D-F24E46727C7F}"/>
              </a:ext>
            </a:extLst>
          </p:cNvPr>
          <p:cNvSpPr txBox="1"/>
          <p:nvPr/>
        </p:nvSpPr>
        <p:spPr>
          <a:xfrm>
            <a:off x="4400576" y="1714500"/>
            <a:ext cx="9486848" cy="509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Positioning Against the Closest Work</a:t>
            </a:r>
            <a:endParaRPr lang="en-US" sz="3000" b="1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F7C714F-45E7-9114-8520-B75BF1BF35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4476797"/>
              </p:ext>
            </p:extLst>
          </p:nvPr>
        </p:nvGraphicFramePr>
        <p:xfrm>
          <a:off x="1981200" y="2567496"/>
          <a:ext cx="14630400" cy="69194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3450018858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430393666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375132958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413641945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2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Property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2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Khan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2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Shen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This thesis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6418247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Manipulator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Franka Panda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4-DOF planar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UR5e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402922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Safety expressed 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Constraint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Reward term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Constraint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31242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Safety quantity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Collision 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Manipulability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Manipulability + joint limit + collision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9201401"/>
                  </a:ext>
                </a:extLst>
              </a:tr>
              <a:tr h="80708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PPO-Lagrangian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SAC (unconstrained)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PPO-Lagrangian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3976271"/>
                  </a:ext>
                </a:extLst>
              </a:tr>
              <a:tr h="88931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Control arm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4033367"/>
                  </a:ext>
                </a:extLst>
              </a:tr>
              <a:tr h="69056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Seed dispersion reported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✓ (5 seeds)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✓ (5 seeds)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4028056"/>
                  </a:ext>
                </a:extLst>
              </a:tr>
              <a:tr h="81864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FI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Cost Limit (d)</a:t>
                      </a:r>
                      <a:endParaRPr lang="en-GB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✗ (d=25 only)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n/a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✓ (d=25 and d=15)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8338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4171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1347" y="731674"/>
            <a:ext cx="5123236" cy="6588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Research Gap: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912771" y="1924624"/>
            <a:ext cx="14462458" cy="576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600" dirty="0">
                <a:latin typeface="Times New Roman"/>
                <a:ea typeface="Times New Roman"/>
                <a:cs typeface="Times New Roman"/>
                <a:sym typeface="Times New Roman"/>
              </a:rPr>
              <a:t>Three gaps in the closest published work and the design response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7221" y="8133145"/>
            <a:ext cx="16293557" cy="1388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FI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US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concrete gaps in the literature and our response to each: no control arm -- we add one; no dispersion -- we report five-seed spreads; one budget -- we test two. 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6FAD8C9-4324-5BD2-39F1-56FA365690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9419324"/>
              </p:ext>
            </p:extLst>
          </p:nvPr>
        </p:nvGraphicFramePr>
        <p:xfrm>
          <a:off x="1912772" y="2781300"/>
          <a:ext cx="14462457" cy="49952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6927">
                  <a:extLst>
                    <a:ext uri="{9D8B030D-6E8A-4147-A177-3AD203B41FA5}">
                      <a16:colId xmlns:a16="http://schemas.microsoft.com/office/drawing/2014/main" val="1158292444"/>
                    </a:ext>
                  </a:extLst>
                </a:gridCol>
                <a:gridCol w="5350939">
                  <a:extLst>
                    <a:ext uri="{9D8B030D-6E8A-4147-A177-3AD203B41FA5}">
                      <a16:colId xmlns:a16="http://schemas.microsoft.com/office/drawing/2014/main" val="1569507600"/>
                    </a:ext>
                  </a:extLst>
                </a:gridCol>
                <a:gridCol w="6104591">
                  <a:extLst>
                    <a:ext uri="{9D8B030D-6E8A-4147-A177-3AD203B41FA5}">
                      <a16:colId xmlns:a16="http://schemas.microsoft.com/office/drawing/2014/main" val="4104253261"/>
                    </a:ext>
                  </a:extLst>
                </a:gridCol>
              </a:tblGrid>
              <a:tr h="111937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Gap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What the literature does</a:t>
                      </a:r>
                      <a:endParaRPr lang="en-GB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This thesis's response</a:t>
                      </a:r>
                      <a:endParaRPr lang="en-GB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4249139"/>
                  </a:ext>
                </a:extLst>
              </a:tr>
              <a:tr h="1312388">
                <a:tc>
                  <a:txBody>
                    <a:bodyPr/>
                    <a:lstStyle/>
                    <a:p>
                      <a:pPr marL="377825" marR="0" lvl="1" indent="0" algn="ctr" defTabSz="914400" rtl="0" eaLnBrk="1" fontAlgn="auto" latinLnBrk="0" hangingPunct="1">
                        <a:lnSpc>
                          <a:spcPts val="6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control arm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Trains </a:t>
                      </a:r>
                      <a:r>
                        <a:rPr lang="en-US" sz="2800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cPPO</a:t>
                      </a:r>
                      <a:r>
                        <a:rPr lang="en-US" sz="28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vs. PPO, reports the raw difference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rgbClr val="00B05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Control arm with λ pinned to zero — measures the implementation term directly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8269881"/>
                  </a:ext>
                </a:extLst>
              </a:tr>
              <a:tr h="1132653">
                <a:tc>
                  <a:txBody>
                    <a:bodyPr/>
                    <a:lstStyle/>
                    <a:p>
                      <a:pPr marL="377825" marR="0" lvl="1" indent="0" algn="ctr" defTabSz="914400" rtl="0" eaLnBrk="1" fontAlgn="auto" latinLnBrk="0" hangingPunct="1">
                        <a:lnSpc>
                          <a:spcPts val="6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dispersion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FI" sz="28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Mostly use only 1 seed</a:t>
                      </a:r>
                      <a:endParaRPr lang="en-US" sz="2800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FI" sz="2800" dirty="0">
                          <a:solidFill>
                            <a:srgbClr val="00B05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seeds for training, 3 for evaluation</a:t>
                      </a:r>
                      <a:endParaRPr lang="en-US" sz="2800" dirty="0">
                        <a:solidFill>
                          <a:srgbClr val="00B05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5685890"/>
                  </a:ext>
                </a:extLst>
              </a:tr>
              <a:tr h="1312388">
                <a:tc>
                  <a:txBody>
                    <a:bodyPr/>
                    <a:lstStyle/>
                    <a:p>
                      <a:pPr marL="377825" marR="0" lvl="1" indent="0" algn="ctr" defTabSz="914400" rtl="0" eaLnBrk="1" fontAlgn="auto" latinLnBrk="0" hangingPunct="1">
                        <a:lnSpc>
                          <a:spcPts val="6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One budget only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Fixes </a:t>
                      </a:r>
                      <a:r>
                        <a:rPr lang="en-FI" sz="28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cost limit (d)</a:t>
                      </a:r>
                      <a:r>
                        <a:rPr lang="en-US" sz="28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= 25</a:t>
                      </a:r>
                      <a:r>
                        <a:rPr lang="en-FI" sz="28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only</a:t>
                      </a:r>
                      <a:endParaRPr lang="en-US" sz="2800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FI" sz="2800" dirty="0">
                          <a:solidFill>
                            <a:srgbClr val="00B05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Used cost limit d = 25 &amp; 15</a:t>
                      </a:r>
                    </a:p>
                    <a:p>
                      <a:pPr algn="ctr"/>
                      <a:r>
                        <a:rPr lang="en-US" sz="2800" dirty="0">
                          <a:solidFill>
                            <a:srgbClr val="00B05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effect read against how hard the constraint </a:t>
                      </a:r>
                      <a:endParaRPr lang="en-GB" sz="2800" dirty="0">
                        <a:solidFill>
                          <a:srgbClr val="00B05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894342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62000" y="674665"/>
            <a:ext cx="3294436" cy="6588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Objectives: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353764" y="1945618"/>
            <a:ext cx="9486848" cy="542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main objectives of this thesis are,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15106" y="2473161"/>
            <a:ext cx="13158093" cy="22061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104902" lvl="2" indent="-323851">
              <a:lnSpc>
                <a:spcPts val="60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Implementing both the constrained and unconstrained agents</a:t>
            </a:r>
          </a:p>
          <a:p>
            <a:pPr marL="1104902" lvl="2" indent="-323851">
              <a:lnSpc>
                <a:spcPts val="60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Isolate the constraint as a cost critic with lambda as a </a:t>
            </a:r>
            <a:r>
              <a:rPr lang="en-US" sz="30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Lagrangian</a:t>
            </a:r>
            <a:r>
              <a: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multiplier</a:t>
            </a:r>
          </a:p>
          <a:p>
            <a:pPr marL="1104902" lvl="2" indent="-323851">
              <a:lnSpc>
                <a:spcPts val="60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different seeds both for training and evaluation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273251" y="5833155"/>
            <a:ext cx="11741498" cy="4941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Does a stated budget change safety </a:t>
            </a:r>
            <a:r>
              <a:rPr lang="en-US" sz="30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behaviour</a:t>
            </a:r>
            <a:r>
              <a: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— and its predictability?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0A5A1-CBA8-AEFF-A806-5FEACA4E0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905ECA22-9EE2-262C-1AF8-AA73463865CF}"/>
              </a:ext>
            </a:extLst>
          </p:cNvPr>
          <p:cNvSpPr txBox="1"/>
          <p:nvPr/>
        </p:nvSpPr>
        <p:spPr>
          <a:xfrm>
            <a:off x="228600" y="756371"/>
            <a:ext cx="4715042" cy="6588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Methodology: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7693CE5-044F-02C5-77A7-3F2DFCE05D94}"/>
              </a:ext>
            </a:extLst>
          </p:cNvPr>
          <p:cNvGrpSpPr/>
          <p:nvPr/>
        </p:nvGrpSpPr>
        <p:grpSpPr>
          <a:xfrm>
            <a:off x="6831674" y="4615647"/>
            <a:ext cx="7313452" cy="523220"/>
            <a:chOff x="5532377" y="1858833"/>
            <a:chExt cx="4535474" cy="523220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1619673-3911-FF1D-C126-11E7EB45B5F3}"/>
                </a:ext>
              </a:extLst>
            </p:cNvPr>
            <p:cNvSpPr txBox="1"/>
            <p:nvPr/>
          </p:nvSpPr>
          <p:spPr>
            <a:xfrm>
              <a:off x="5532377" y="1858833"/>
              <a:ext cx="243367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>
                <a:buFont typeface="Arial" panose="020B0604020202020204" pitchFamily="34" charset="0"/>
                <a:buChar char="•"/>
              </a:pPr>
              <a:endParaRPr lang="en-GB" sz="2800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566C6BC-4D51-5663-E8A4-534B64F69052}"/>
                </a:ext>
              </a:extLst>
            </p:cNvPr>
            <p:cNvSpPr txBox="1"/>
            <p:nvPr/>
          </p:nvSpPr>
          <p:spPr>
            <a:xfrm>
              <a:off x="7696200" y="1858833"/>
              <a:ext cx="237165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>
                <a:buFont typeface="Arial" panose="020B0604020202020204" pitchFamily="34" charset="0"/>
                <a:buChar char="•"/>
              </a:pPr>
              <a:endParaRPr lang="en-GB" sz="2800" dirty="0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EC9D6DD0-53B9-0C12-F5CF-FB6119A7C30B}"/>
              </a:ext>
            </a:extLst>
          </p:cNvPr>
          <p:cNvGrpSpPr/>
          <p:nvPr/>
        </p:nvGrpSpPr>
        <p:grpSpPr>
          <a:xfrm>
            <a:off x="1267953" y="3586974"/>
            <a:ext cx="15752094" cy="2318525"/>
            <a:chOff x="1173946" y="2857500"/>
            <a:chExt cx="15752094" cy="1295400"/>
          </a:xfrm>
        </p:grpSpPr>
        <p:sp>
          <p:nvSpPr>
            <p:cNvPr id="31" name="Arrow: Right 30">
              <a:extLst>
                <a:ext uri="{FF2B5EF4-FFF2-40B4-BE49-F238E27FC236}">
                  <a16:creationId xmlns:a16="http://schemas.microsoft.com/office/drawing/2014/main" id="{B91CA6BA-2AB5-7E0B-2409-46DF141FED7B}"/>
                </a:ext>
              </a:extLst>
            </p:cNvPr>
            <p:cNvSpPr/>
            <p:nvPr/>
          </p:nvSpPr>
          <p:spPr>
            <a:xfrm>
              <a:off x="4292987" y="3181350"/>
              <a:ext cx="721697" cy="647700"/>
            </a:xfrm>
            <a:prstGeom prst="right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7B9C46F7-FF0C-5D50-06DC-39A131EAB278}"/>
                </a:ext>
              </a:extLst>
            </p:cNvPr>
            <p:cNvGrpSpPr/>
            <p:nvPr/>
          </p:nvGrpSpPr>
          <p:grpSpPr>
            <a:xfrm>
              <a:off x="1173946" y="2857500"/>
              <a:ext cx="15752094" cy="1295400"/>
              <a:chOff x="1173946" y="2857500"/>
              <a:chExt cx="15752094" cy="1295400"/>
            </a:xfrm>
          </p:grpSpPr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2910E48A-7CA2-F652-DB10-E72F52BED827}"/>
                  </a:ext>
                </a:extLst>
              </p:cNvPr>
              <p:cNvSpPr/>
              <p:nvPr/>
            </p:nvSpPr>
            <p:spPr>
              <a:xfrm>
                <a:off x="1173946" y="2857500"/>
                <a:ext cx="2636054" cy="1295400"/>
              </a:xfrm>
              <a:prstGeom prst="round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FI" sz="28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Environment Setup</a:t>
                </a:r>
                <a:endParaRPr lang="en-GB" sz="2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DCDFAC67-EC41-CB4F-1142-B7726FD5F8EE}"/>
                  </a:ext>
                </a:extLst>
              </p:cNvPr>
              <p:cNvSpPr/>
              <p:nvPr/>
            </p:nvSpPr>
            <p:spPr>
              <a:xfrm>
                <a:off x="5497673" y="2857500"/>
                <a:ext cx="2636054" cy="1295400"/>
              </a:xfrm>
              <a:prstGeom prst="round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FI" sz="28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Safety Cost</a:t>
                </a:r>
                <a:endParaRPr lang="en-GB" sz="2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" name="Rectangle: Rounded Corners 27">
                <a:extLst>
                  <a:ext uri="{FF2B5EF4-FFF2-40B4-BE49-F238E27FC236}">
                    <a16:creationId xmlns:a16="http://schemas.microsoft.com/office/drawing/2014/main" id="{60DC7B1E-FABF-5F59-8E1B-5AB9BC524FFD}"/>
                  </a:ext>
                </a:extLst>
              </p:cNvPr>
              <p:cNvSpPr/>
              <p:nvPr/>
            </p:nvSpPr>
            <p:spPr>
              <a:xfrm>
                <a:off x="14145125" y="2857500"/>
                <a:ext cx="2780915" cy="1295400"/>
              </a:xfrm>
              <a:prstGeom prst="round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FI" sz="3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Evaluation</a:t>
                </a:r>
                <a:r>
                  <a:rPr lang="en-FI" sz="2400" b="1" dirty="0">
                    <a:solidFill>
                      <a:schemeClr val="tx1"/>
                    </a:solidFill>
                  </a:rPr>
                  <a:t> </a:t>
                </a:r>
                <a:endParaRPr lang="en-GB" sz="24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D34073F0-F994-0FE8-1FC4-B3CB0C9EFCFE}"/>
                  </a:ext>
                </a:extLst>
              </p:cNvPr>
              <p:cNvSpPr/>
              <p:nvPr/>
            </p:nvSpPr>
            <p:spPr>
              <a:xfrm>
                <a:off x="9821399" y="2857500"/>
                <a:ext cx="2636054" cy="1295400"/>
              </a:xfrm>
              <a:prstGeom prst="roundRect">
                <a:avLst/>
              </a:prstGeom>
              <a:solidFill>
                <a:srgbClr val="0070C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FI" sz="28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Algorithm Arms</a:t>
                </a:r>
                <a:endParaRPr lang="en-GB" sz="2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3" name="Arrow: Right 32">
                <a:extLst>
                  <a:ext uri="{FF2B5EF4-FFF2-40B4-BE49-F238E27FC236}">
                    <a16:creationId xmlns:a16="http://schemas.microsoft.com/office/drawing/2014/main" id="{EC9147D9-A202-7646-EE72-D0D1B5900098}"/>
                  </a:ext>
                </a:extLst>
              </p:cNvPr>
              <p:cNvSpPr/>
              <p:nvPr/>
            </p:nvSpPr>
            <p:spPr>
              <a:xfrm>
                <a:off x="8610980" y="3181350"/>
                <a:ext cx="688258" cy="647700"/>
              </a:xfrm>
              <a:prstGeom prst="rightArrow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5" name="Arrow: Right 34">
                <a:extLst>
                  <a:ext uri="{FF2B5EF4-FFF2-40B4-BE49-F238E27FC236}">
                    <a16:creationId xmlns:a16="http://schemas.microsoft.com/office/drawing/2014/main" id="{0792799B-5458-948D-B9FE-45721DA7DE6B}"/>
                  </a:ext>
                </a:extLst>
              </p:cNvPr>
              <p:cNvSpPr/>
              <p:nvPr/>
            </p:nvSpPr>
            <p:spPr>
              <a:xfrm>
                <a:off x="12957160" y="3137137"/>
                <a:ext cx="688258" cy="647700"/>
              </a:xfrm>
              <a:prstGeom prst="rightArrow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346480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228600" y="756371"/>
            <a:ext cx="4715042" cy="6588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Methodology: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BE52A26-521B-FEF4-F8FC-40938CDE941E}"/>
              </a:ext>
            </a:extLst>
          </p:cNvPr>
          <p:cNvGrpSpPr/>
          <p:nvPr/>
        </p:nvGrpSpPr>
        <p:grpSpPr>
          <a:xfrm>
            <a:off x="6831674" y="4615647"/>
            <a:ext cx="7313452" cy="523220"/>
            <a:chOff x="5532377" y="1858833"/>
            <a:chExt cx="4535474" cy="523220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976AEA5-3E8B-92E9-53CE-410F4DED583C}"/>
                </a:ext>
              </a:extLst>
            </p:cNvPr>
            <p:cNvSpPr txBox="1"/>
            <p:nvPr/>
          </p:nvSpPr>
          <p:spPr>
            <a:xfrm>
              <a:off x="5532377" y="1858833"/>
              <a:ext cx="243367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>
                <a:buFont typeface="Arial" panose="020B0604020202020204" pitchFamily="34" charset="0"/>
                <a:buChar char="•"/>
              </a:pPr>
              <a:endParaRPr lang="en-GB" sz="2800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F52BEA9-8B72-B159-4DFB-047402CC31C0}"/>
                </a:ext>
              </a:extLst>
            </p:cNvPr>
            <p:cNvSpPr txBox="1"/>
            <p:nvPr/>
          </p:nvSpPr>
          <p:spPr>
            <a:xfrm>
              <a:off x="7696200" y="1858833"/>
              <a:ext cx="237165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>
                <a:buFont typeface="Arial" panose="020B0604020202020204" pitchFamily="34" charset="0"/>
                <a:buChar char="•"/>
              </a:pPr>
              <a:endParaRPr lang="en-GB" sz="2800" dirty="0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8C6FA3A6-AC73-3388-84ED-0DE6A49B5BEE}"/>
              </a:ext>
            </a:extLst>
          </p:cNvPr>
          <p:cNvGrpSpPr/>
          <p:nvPr/>
        </p:nvGrpSpPr>
        <p:grpSpPr>
          <a:xfrm>
            <a:off x="1267953" y="2019300"/>
            <a:ext cx="15752094" cy="1219200"/>
            <a:chOff x="1173946" y="2857500"/>
            <a:chExt cx="15752094" cy="1295400"/>
          </a:xfrm>
        </p:grpSpPr>
        <p:sp>
          <p:nvSpPr>
            <p:cNvPr id="31" name="Arrow: Right 30">
              <a:extLst>
                <a:ext uri="{FF2B5EF4-FFF2-40B4-BE49-F238E27FC236}">
                  <a16:creationId xmlns:a16="http://schemas.microsoft.com/office/drawing/2014/main" id="{7CCF4E1A-E97A-60C0-7213-6AD1E1A4FD75}"/>
                </a:ext>
              </a:extLst>
            </p:cNvPr>
            <p:cNvSpPr/>
            <p:nvPr/>
          </p:nvSpPr>
          <p:spPr>
            <a:xfrm>
              <a:off x="4292987" y="3181350"/>
              <a:ext cx="721697" cy="647700"/>
            </a:xfrm>
            <a:prstGeom prst="right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7EFB5B56-8732-744E-3CE1-6BD731E06FDC}"/>
                </a:ext>
              </a:extLst>
            </p:cNvPr>
            <p:cNvGrpSpPr/>
            <p:nvPr/>
          </p:nvGrpSpPr>
          <p:grpSpPr>
            <a:xfrm>
              <a:off x="1173946" y="2857500"/>
              <a:ext cx="15752094" cy="1295400"/>
              <a:chOff x="1173946" y="2857500"/>
              <a:chExt cx="15752094" cy="1295400"/>
            </a:xfrm>
          </p:grpSpPr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48F0C52C-6300-00A9-7BFB-8218599C16EA}"/>
                  </a:ext>
                </a:extLst>
              </p:cNvPr>
              <p:cNvSpPr/>
              <p:nvPr/>
            </p:nvSpPr>
            <p:spPr>
              <a:xfrm>
                <a:off x="1173946" y="2857500"/>
                <a:ext cx="2636054" cy="1295400"/>
              </a:xfrm>
              <a:prstGeom prst="round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FI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Environment Setup</a:t>
                </a:r>
                <a:endParaRPr lang="en-GB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548CC6AD-2B39-CBC1-C2EB-65B5F854440D}"/>
                  </a:ext>
                </a:extLst>
              </p:cNvPr>
              <p:cNvSpPr/>
              <p:nvPr/>
            </p:nvSpPr>
            <p:spPr>
              <a:xfrm>
                <a:off x="5497673" y="2857500"/>
                <a:ext cx="2636054" cy="1295400"/>
              </a:xfrm>
              <a:prstGeom prst="round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FI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Safety Cost</a:t>
                </a:r>
                <a:endParaRPr lang="en-GB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" name="Rectangle: Rounded Corners 27">
                <a:extLst>
                  <a:ext uri="{FF2B5EF4-FFF2-40B4-BE49-F238E27FC236}">
                    <a16:creationId xmlns:a16="http://schemas.microsoft.com/office/drawing/2014/main" id="{10A801C2-21C8-6B6B-2C11-5CD91BE89112}"/>
                  </a:ext>
                </a:extLst>
              </p:cNvPr>
              <p:cNvSpPr/>
              <p:nvPr/>
            </p:nvSpPr>
            <p:spPr>
              <a:xfrm>
                <a:off x="14145125" y="2857500"/>
                <a:ext cx="2780915" cy="1295400"/>
              </a:xfrm>
              <a:prstGeom prst="round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FI" sz="28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Evaluation</a:t>
                </a:r>
                <a:r>
                  <a:rPr lang="en-FI" sz="2400" b="1" dirty="0">
                    <a:solidFill>
                      <a:schemeClr val="tx1"/>
                    </a:solidFill>
                  </a:rPr>
                  <a:t> </a:t>
                </a:r>
                <a:endParaRPr lang="en-GB" sz="24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DFB8B6E2-2BFA-5299-28EE-3AB496A1C4C3}"/>
                  </a:ext>
                </a:extLst>
              </p:cNvPr>
              <p:cNvSpPr/>
              <p:nvPr/>
            </p:nvSpPr>
            <p:spPr>
              <a:xfrm>
                <a:off x="9821399" y="2857500"/>
                <a:ext cx="2636054" cy="1295400"/>
              </a:xfrm>
              <a:prstGeom prst="roundRect">
                <a:avLst/>
              </a:prstGeom>
              <a:solidFill>
                <a:srgbClr val="0070C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FI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Algorithm Arms</a:t>
                </a:r>
                <a:endParaRPr lang="en-GB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3" name="Arrow: Right 32">
                <a:extLst>
                  <a:ext uri="{FF2B5EF4-FFF2-40B4-BE49-F238E27FC236}">
                    <a16:creationId xmlns:a16="http://schemas.microsoft.com/office/drawing/2014/main" id="{03BD6F78-0988-EAF6-4ED7-10C87463528D}"/>
                  </a:ext>
                </a:extLst>
              </p:cNvPr>
              <p:cNvSpPr/>
              <p:nvPr/>
            </p:nvSpPr>
            <p:spPr>
              <a:xfrm>
                <a:off x="8610980" y="3181350"/>
                <a:ext cx="688258" cy="647700"/>
              </a:xfrm>
              <a:prstGeom prst="rightArrow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5" name="Arrow: Right 34">
                <a:extLst>
                  <a:ext uri="{FF2B5EF4-FFF2-40B4-BE49-F238E27FC236}">
                    <a16:creationId xmlns:a16="http://schemas.microsoft.com/office/drawing/2014/main" id="{3170DA6B-CFF3-3127-E034-B29A3E1DEFA4}"/>
                  </a:ext>
                </a:extLst>
              </p:cNvPr>
              <p:cNvSpPr/>
              <p:nvPr/>
            </p:nvSpPr>
            <p:spPr>
              <a:xfrm>
                <a:off x="12957160" y="3137137"/>
                <a:ext cx="688258" cy="647700"/>
              </a:xfrm>
              <a:prstGeom prst="rightArrow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B7AEEA6C-4CD9-88BF-CC25-CA907A2E3F20}"/>
              </a:ext>
            </a:extLst>
          </p:cNvPr>
          <p:cNvSpPr txBox="1"/>
          <p:nvPr/>
        </p:nvSpPr>
        <p:spPr>
          <a:xfrm>
            <a:off x="2585980" y="4242644"/>
            <a:ext cx="635204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FI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NVIDIA </a:t>
            </a:r>
            <a:r>
              <a:rPr lang="en-FI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IsaacSim</a:t>
            </a:r>
            <a:r>
              <a:rPr lang="en-FI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5.0.0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FI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FI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FI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IsaacLab</a:t>
            </a:r>
            <a:r>
              <a:rPr lang="en-FI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2.3.1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FI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FI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FI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rsl_rl</a:t>
            </a:r>
            <a:r>
              <a:rPr lang="en-FI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FI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FI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weld environment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E5E727-06D0-AE12-128A-72E9F890F6A5}"/>
              </a:ext>
            </a:extLst>
          </p:cNvPr>
          <p:cNvSpPr txBox="1"/>
          <p:nvPr/>
        </p:nvSpPr>
        <p:spPr>
          <a:xfrm>
            <a:off x="8743139" y="4242644"/>
            <a:ext cx="695288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FI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4096 parallel robots for training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FI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FI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1500 iterations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FI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 dirty="0">
                <a:latin typeface="Times New Roman"/>
              </a:rPr>
              <a:t>UR5e + </a:t>
            </a:r>
            <a:r>
              <a:rPr lang="en-GB" sz="3600" dirty="0" err="1">
                <a:latin typeface="Times New Roman"/>
              </a:rPr>
              <a:t>Robotiq</a:t>
            </a:r>
            <a:r>
              <a:rPr lang="en-GB" sz="3600" dirty="0">
                <a:latin typeface="Times New Roman"/>
              </a:rPr>
              <a:t> 2F-85 gripper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7B2427-D171-C765-2633-959E2F72CDC4}"/>
              </a:ext>
            </a:extLst>
          </p:cNvPr>
          <p:cNvSpPr/>
          <p:nvPr/>
        </p:nvSpPr>
        <p:spPr>
          <a:xfrm>
            <a:off x="1066800" y="1790700"/>
            <a:ext cx="3048000" cy="1676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DECE7-96E7-F847-6742-6C7D71EBE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C25103C8-BF22-41B6-86FF-517D2CB7E653}"/>
              </a:ext>
            </a:extLst>
          </p:cNvPr>
          <p:cNvSpPr txBox="1"/>
          <p:nvPr/>
        </p:nvSpPr>
        <p:spPr>
          <a:xfrm>
            <a:off x="228600" y="756371"/>
            <a:ext cx="4715042" cy="6588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Methodology: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D0BBEB8-EEF4-16D4-42B5-A598A9F12E6B}"/>
              </a:ext>
            </a:extLst>
          </p:cNvPr>
          <p:cNvGrpSpPr/>
          <p:nvPr/>
        </p:nvGrpSpPr>
        <p:grpSpPr>
          <a:xfrm>
            <a:off x="1267953" y="2019300"/>
            <a:ext cx="15752094" cy="1295400"/>
            <a:chOff x="1173946" y="2857500"/>
            <a:chExt cx="15752094" cy="1295400"/>
          </a:xfrm>
        </p:grpSpPr>
        <p:sp>
          <p:nvSpPr>
            <p:cNvPr id="31" name="Arrow: Right 30">
              <a:extLst>
                <a:ext uri="{FF2B5EF4-FFF2-40B4-BE49-F238E27FC236}">
                  <a16:creationId xmlns:a16="http://schemas.microsoft.com/office/drawing/2014/main" id="{6D76A05C-2C76-1089-120B-32C5E3167AD5}"/>
                </a:ext>
              </a:extLst>
            </p:cNvPr>
            <p:cNvSpPr/>
            <p:nvPr/>
          </p:nvSpPr>
          <p:spPr>
            <a:xfrm>
              <a:off x="4292987" y="3181350"/>
              <a:ext cx="721697" cy="647700"/>
            </a:xfrm>
            <a:prstGeom prst="right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71954D66-6D18-665A-6B0E-67A3F3762767}"/>
                </a:ext>
              </a:extLst>
            </p:cNvPr>
            <p:cNvGrpSpPr/>
            <p:nvPr/>
          </p:nvGrpSpPr>
          <p:grpSpPr>
            <a:xfrm>
              <a:off x="1173946" y="2857500"/>
              <a:ext cx="15752094" cy="1295400"/>
              <a:chOff x="1173946" y="2857500"/>
              <a:chExt cx="15752094" cy="1295400"/>
            </a:xfrm>
          </p:grpSpPr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DA429AC6-5E5E-2968-C18C-7EC1A05B9D5A}"/>
                  </a:ext>
                </a:extLst>
              </p:cNvPr>
              <p:cNvSpPr/>
              <p:nvPr/>
            </p:nvSpPr>
            <p:spPr>
              <a:xfrm>
                <a:off x="1173946" y="2857500"/>
                <a:ext cx="2636054" cy="1295400"/>
              </a:xfrm>
              <a:prstGeom prst="round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FI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Environment Setup</a:t>
                </a:r>
                <a:endParaRPr lang="en-GB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7926AD9A-B080-19F7-9CF0-279FAA6CB4CE}"/>
                  </a:ext>
                </a:extLst>
              </p:cNvPr>
              <p:cNvSpPr/>
              <p:nvPr/>
            </p:nvSpPr>
            <p:spPr>
              <a:xfrm>
                <a:off x="5497673" y="2857500"/>
                <a:ext cx="2636054" cy="1295400"/>
              </a:xfrm>
              <a:prstGeom prst="round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FI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Safety Cost</a:t>
                </a:r>
                <a:endParaRPr lang="en-GB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" name="Rectangle: Rounded Corners 27">
                <a:extLst>
                  <a:ext uri="{FF2B5EF4-FFF2-40B4-BE49-F238E27FC236}">
                    <a16:creationId xmlns:a16="http://schemas.microsoft.com/office/drawing/2014/main" id="{3106749C-75BF-D639-B188-0DA5E70E9335}"/>
                  </a:ext>
                </a:extLst>
              </p:cNvPr>
              <p:cNvSpPr/>
              <p:nvPr/>
            </p:nvSpPr>
            <p:spPr>
              <a:xfrm>
                <a:off x="14145125" y="2857500"/>
                <a:ext cx="2780915" cy="1295400"/>
              </a:xfrm>
              <a:prstGeom prst="round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FI" sz="28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Evaluation</a:t>
                </a:r>
                <a:r>
                  <a:rPr lang="en-FI" sz="2400" b="1" dirty="0">
                    <a:solidFill>
                      <a:schemeClr val="tx1"/>
                    </a:solidFill>
                  </a:rPr>
                  <a:t> </a:t>
                </a:r>
                <a:endParaRPr lang="en-GB" sz="24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D38AC2E5-DCD1-88C0-1926-AFA955933DDB}"/>
                  </a:ext>
                </a:extLst>
              </p:cNvPr>
              <p:cNvSpPr/>
              <p:nvPr/>
            </p:nvSpPr>
            <p:spPr>
              <a:xfrm>
                <a:off x="9821399" y="2857500"/>
                <a:ext cx="2636054" cy="1295400"/>
              </a:xfrm>
              <a:prstGeom prst="roundRect">
                <a:avLst/>
              </a:prstGeom>
              <a:solidFill>
                <a:srgbClr val="0070C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FI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Algorithm Arms</a:t>
                </a:r>
                <a:endParaRPr lang="en-GB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3" name="Arrow: Right 32">
                <a:extLst>
                  <a:ext uri="{FF2B5EF4-FFF2-40B4-BE49-F238E27FC236}">
                    <a16:creationId xmlns:a16="http://schemas.microsoft.com/office/drawing/2014/main" id="{2752135B-9498-22FC-971D-0DC11933675B}"/>
                  </a:ext>
                </a:extLst>
              </p:cNvPr>
              <p:cNvSpPr/>
              <p:nvPr/>
            </p:nvSpPr>
            <p:spPr>
              <a:xfrm>
                <a:off x="8610980" y="3181350"/>
                <a:ext cx="688258" cy="647700"/>
              </a:xfrm>
              <a:prstGeom prst="rightArrow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5" name="Arrow: Right 34">
                <a:extLst>
                  <a:ext uri="{FF2B5EF4-FFF2-40B4-BE49-F238E27FC236}">
                    <a16:creationId xmlns:a16="http://schemas.microsoft.com/office/drawing/2014/main" id="{5F634524-A969-3CC2-4B18-864DE7037E3D}"/>
                  </a:ext>
                </a:extLst>
              </p:cNvPr>
              <p:cNvSpPr/>
              <p:nvPr/>
            </p:nvSpPr>
            <p:spPr>
              <a:xfrm>
                <a:off x="12957160" y="3137137"/>
                <a:ext cx="688258" cy="647700"/>
              </a:xfrm>
              <a:prstGeom prst="rightArrow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348E54A0-3C8D-4256-94D1-4C971C130021}"/>
              </a:ext>
            </a:extLst>
          </p:cNvPr>
          <p:cNvSpPr/>
          <p:nvPr/>
        </p:nvSpPr>
        <p:spPr>
          <a:xfrm>
            <a:off x="5395907" y="1711747"/>
            <a:ext cx="3048000" cy="1905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635FA145-3127-0A4D-D82E-A153D461705F}"/>
              </a:ext>
            </a:extLst>
          </p:cNvPr>
          <p:cNvGrpSpPr/>
          <p:nvPr/>
        </p:nvGrpSpPr>
        <p:grpSpPr>
          <a:xfrm>
            <a:off x="1267953" y="4128154"/>
            <a:ext cx="15752094" cy="5084200"/>
            <a:chOff x="1171463" y="4333072"/>
            <a:chExt cx="16354537" cy="5084200"/>
          </a:xfrm>
        </p:grpSpPr>
        <p:sp>
          <p:nvSpPr>
            <p:cNvPr id="37" name="Rounded Rectangle 3">
              <a:extLst>
                <a:ext uri="{FF2B5EF4-FFF2-40B4-BE49-F238E27FC236}">
                  <a16:creationId xmlns:a16="http://schemas.microsoft.com/office/drawing/2014/main" id="{2A586DE9-9E9D-026B-70A4-0FA2868C6D57}"/>
                </a:ext>
              </a:extLst>
            </p:cNvPr>
            <p:cNvSpPr/>
            <p:nvPr/>
          </p:nvSpPr>
          <p:spPr>
            <a:xfrm>
              <a:off x="1171463" y="4333072"/>
              <a:ext cx="4748661" cy="1191428"/>
            </a:xfrm>
            <a:prstGeom prst="roundRect">
              <a:avLst>
                <a:gd name="adj" fmla="val 10000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5875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8016" tIns="54864" rIns="128016" bIns="54864" rtlCol="0" anchor="ctr"/>
            <a:lstStyle/>
            <a:p>
              <a:pPr algn="ctr"/>
              <a:r>
                <a:rPr sz="2400" b="1" dirty="0">
                  <a:solidFill>
                    <a:schemeClr val="tx1"/>
                  </a:solidFill>
                  <a:latin typeface="Times New Roman"/>
                </a:rPr>
                <a:t>Manipulability floor</a:t>
              </a:r>
            </a:p>
            <a:p>
              <a:pPr algn="ctr"/>
              <a:r>
                <a:rPr sz="1900" b="0" dirty="0">
                  <a:solidFill>
                    <a:schemeClr val="tx1"/>
                  </a:solidFill>
                  <a:latin typeface="Times New Roman"/>
                </a:rPr>
                <a:t>w = √det(JJᵀ)  below 0.06</a:t>
              </a:r>
            </a:p>
            <a:p>
              <a:pPr algn="ctr"/>
              <a:r>
                <a:rPr sz="1600" b="0" dirty="0">
                  <a:solidFill>
                    <a:schemeClr val="tx1"/>
                  </a:solidFill>
                  <a:latin typeface="Times New Roman"/>
                </a:rPr>
                <a:t>near-singular: arm loses a direction</a:t>
              </a:r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E6DFDB16-1706-7CED-61CE-0CC6A9A70885}"/>
                </a:ext>
              </a:extLst>
            </p:cNvPr>
            <p:cNvGrpSpPr/>
            <p:nvPr/>
          </p:nvGrpSpPr>
          <p:grpSpPr>
            <a:xfrm>
              <a:off x="1171463" y="4772026"/>
              <a:ext cx="16354537" cy="4645246"/>
              <a:chOff x="1171463" y="4772026"/>
              <a:chExt cx="16680552" cy="4645246"/>
            </a:xfrm>
          </p:grpSpPr>
          <p:sp>
            <p:nvSpPr>
              <p:cNvPr id="39" name="Rounded Rectangle 4">
                <a:extLst>
                  <a:ext uri="{FF2B5EF4-FFF2-40B4-BE49-F238E27FC236}">
                    <a16:creationId xmlns:a16="http://schemas.microsoft.com/office/drawing/2014/main" id="{80209C48-5E03-2EB8-EA0A-B46A5027791B}"/>
                  </a:ext>
                </a:extLst>
              </p:cNvPr>
              <p:cNvSpPr/>
              <p:nvPr/>
            </p:nvSpPr>
            <p:spPr>
              <a:xfrm>
                <a:off x="1173946" y="6279458"/>
                <a:ext cx="4845854" cy="1191428"/>
              </a:xfrm>
              <a:prstGeom prst="roundRect">
                <a:avLst>
                  <a:gd name="adj" fmla="val 10000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 w="15875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28016" tIns="54864" rIns="128016" bIns="54864" rtlCol="0" anchor="ctr"/>
              <a:lstStyle/>
              <a:p>
                <a:pPr algn="ctr"/>
                <a:r>
                  <a:rPr sz="2400" b="1" dirty="0">
                    <a:solidFill>
                      <a:schemeClr val="tx1"/>
                    </a:solidFill>
                    <a:latin typeface="Times New Roman"/>
                  </a:rPr>
                  <a:t>Joint-limit margin</a:t>
                </a:r>
              </a:p>
              <a:p>
                <a:pPr algn="ctr"/>
                <a:r>
                  <a:rPr sz="1900" b="0" dirty="0">
                    <a:solidFill>
                      <a:schemeClr val="tx1"/>
                    </a:solidFill>
                    <a:latin typeface="Times New Roman"/>
                  </a:rPr>
                  <a:t>clearance under 0.175 rad</a:t>
                </a:r>
              </a:p>
              <a:p>
                <a:pPr algn="ctr"/>
                <a:r>
                  <a:rPr sz="1600" b="0" dirty="0">
                    <a:solidFill>
                      <a:schemeClr val="tx1"/>
                    </a:solidFill>
                    <a:latin typeface="Times New Roman"/>
                  </a:rPr>
                  <a:t>joint approaching its mechanical stop</a:t>
                </a:r>
              </a:p>
            </p:txBody>
          </p:sp>
          <p:sp>
            <p:nvSpPr>
              <p:cNvPr id="41" name="Rounded Rectangle 5">
                <a:extLst>
                  <a:ext uri="{FF2B5EF4-FFF2-40B4-BE49-F238E27FC236}">
                    <a16:creationId xmlns:a16="http://schemas.microsoft.com/office/drawing/2014/main" id="{93486293-BAAE-062A-2E58-25395736AC2E}"/>
                  </a:ext>
                </a:extLst>
              </p:cNvPr>
              <p:cNvSpPr/>
              <p:nvPr/>
            </p:nvSpPr>
            <p:spPr>
              <a:xfrm>
                <a:off x="1171463" y="8225844"/>
                <a:ext cx="4845854" cy="1191428"/>
              </a:xfrm>
              <a:prstGeom prst="roundRect">
                <a:avLst>
                  <a:gd name="adj" fmla="val 10000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 w="15875">
                <a:solidFill>
                  <a:schemeClr val="tx1">
                    <a:lumMod val="95000"/>
                    <a:lumOff val="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28016" tIns="54864" rIns="128016" bIns="54864" rtlCol="0" anchor="ctr"/>
              <a:lstStyle/>
              <a:p>
                <a:pPr algn="ctr"/>
                <a:r>
                  <a:rPr sz="2400" b="1" dirty="0">
                    <a:solidFill>
                      <a:schemeClr val="tx1"/>
                    </a:solidFill>
                    <a:latin typeface="Times New Roman"/>
                  </a:rPr>
                  <a:t>Collision keep-out</a:t>
                </a:r>
              </a:p>
              <a:p>
                <a:pPr algn="ctr"/>
                <a:r>
                  <a:rPr sz="1900" b="0" dirty="0">
                    <a:solidFill>
                      <a:schemeClr val="tx1"/>
                    </a:solidFill>
                    <a:latin typeface="Times New Roman"/>
                  </a:rPr>
                  <a:t>link below 0.05 m</a:t>
                </a:r>
              </a:p>
              <a:p>
                <a:pPr algn="ctr"/>
                <a:r>
                  <a:rPr sz="1600" b="0" dirty="0">
                    <a:solidFill>
                      <a:schemeClr val="tx1"/>
                    </a:solidFill>
                    <a:latin typeface="Times New Roman"/>
                  </a:rPr>
                  <a:t>monitored, inactive in every run</a:t>
                </a:r>
              </a:p>
            </p:txBody>
          </p:sp>
          <p:cxnSp>
            <p:nvCxnSpPr>
              <p:cNvPr id="46" name="Connector 9">
                <a:extLst>
                  <a:ext uri="{FF2B5EF4-FFF2-40B4-BE49-F238E27FC236}">
                    <a16:creationId xmlns:a16="http://schemas.microsoft.com/office/drawing/2014/main" id="{314C70F3-22A7-BFED-9FB8-E4BFBD4C7842}"/>
                  </a:ext>
                </a:extLst>
              </p:cNvPr>
              <p:cNvCxnSpPr/>
              <p:nvPr/>
            </p:nvCxnSpPr>
            <p:spPr>
              <a:xfrm>
                <a:off x="6032500" y="4772026"/>
                <a:ext cx="1143000" cy="2057400"/>
              </a:xfrm>
              <a:prstGeom prst="bentConnector3">
                <a:avLst/>
              </a:prstGeom>
              <a:ln w="22225">
                <a:solidFill>
                  <a:schemeClr val="tx1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Connector 10">
                <a:extLst>
                  <a:ext uri="{FF2B5EF4-FFF2-40B4-BE49-F238E27FC236}">
                    <a16:creationId xmlns:a16="http://schemas.microsoft.com/office/drawing/2014/main" id="{A4A8301D-E921-A6F7-CE4E-71B13F7F8936}"/>
                  </a:ext>
                </a:extLst>
              </p:cNvPr>
              <p:cNvCxnSpPr/>
              <p:nvPr/>
            </p:nvCxnSpPr>
            <p:spPr>
              <a:xfrm flipV="1">
                <a:off x="6032500" y="6829426"/>
                <a:ext cx="1143000" cy="0"/>
              </a:xfrm>
              <a:prstGeom prst="bentConnector3">
                <a:avLst/>
              </a:prstGeom>
              <a:ln w="22225">
                <a:solidFill>
                  <a:schemeClr val="tx1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Connector 11">
                <a:extLst>
                  <a:ext uri="{FF2B5EF4-FFF2-40B4-BE49-F238E27FC236}">
                    <a16:creationId xmlns:a16="http://schemas.microsoft.com/office/drawing/2014/main" id="{B5104F4D-7293-4F05-2524-2BCFE4E231AE}"/>
                  </a:ext>
                </a:extLst>
              </p:cNvPr>
              <p:cNvCxnSpPr/>
              <p:nvPr/>
            </p:nvCxnSpPr>
            <p:spPr>
              <a:xfrm flipV="1">
                <a:off x="6032500" y="6829426"/>
                <a:ext cx="1143000" cy="2057400"/>
              </a:xfrm>
              <a:prstGeom prst="bentConnector3">
                <a:avLst/>
              </a:prstGeom>
              <a:ln w="22225">
                <a:solidFill>
                  <a:schemeClr val="tx1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Rounded Rectangle 6">
                <a:extLst>
                  <a:ext uri="{FF2B5EF4-FFF2-40B4-BE49-F238E27FC236}">
                    <a16:creationId xmlns:a16="http://schemas.microsoft.com/office/drawing/2014/main" id="{58B4A15D-1408-BC02-A3F4-DB283DA3AA33}"/>
                  </a:ext>
                </a:extLst>
              </p:cNvPr>
              <p:cNvSpPr/>
              <p:nvPr/>
            </p:nvSpPr>
            <p:spPr>
              <a:xfrm>
                <a:off x="7190683" y="6029326"/>
                <a:ext cx="3200400" cy="1600200"/>
              </a:xfrm>
              <a:prstGeom prst="roundRect">
                <a:avLst>
                  <a:gd name="adj" fmla="val 10000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 w="15875">
                <a:solidFill>
                  <a:schemeClr val="tx1">
                    <a:lumMod val="95000"/>
                    <a:lumOff val="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28016" tIns="54864" rIns="128016" bIns="54864" rtlCol="0" anchor="ctr"/>
              <a:lstStyle/>
              <a:p>
                <a:pPr algn="ctr"/>
                <a:r>
                  <a:rPr sz="2800" b="1" dirty="0">
                    <a:solidFill>
                      <a:schemeClr val="tx1"/>
                    </a:solidFill>
                    <a:latin typeface="Times New Roman"/>
                  </a:rPr>
                  <a:t>Aggregate cost</a:t>
                </a:r>
              </a:p>
              <a:p>
                <a:pPr algn="ctr"/>
                <a:r>
                  <a:rPr sz="2000" b="0" dirty="0">
                    <a:solidFill>
                      <a:schemeClr val="tx1"/>
                    </a:solidFill>
                    <a:latin typeface="Times New Roman"/>
                  </a:rPr>
                  <a:t>c = sum of the three</a:t>
                </a:r>
              </a:p>
              <a:p>
                <a:pPr algn="ctr"/>
                <a:r>
                  <a:rPr b="0" dirty="0">
                    <a:solidFill>
                      <a:schemeClr val="tx1"/>
                    </a:solidFill>
                    <a:latin typeface="Times New Roman"/>
                  </a:rPr>
                  <a:t>one λ governs all</a:t>
                </a:r>
              </a:p>
            </p:txBody>
          </p:sp>
          <p:sp>
            <p:nvSpPr>
              <p:cNvPr id="50" name="Rounded Rectangle 7">
                <a:extLst>
                  <a:ext uri="{FF2B5EF4-FFF2-40B4-BE49-F238E27FC236}">
                    <a16:creationId xmlns:a16="http://schemas.microsoft.com/office/drawing/2014/main" id="{A2DD266C-AA7F-9414-3616-BFE1A8445320}"/>
                  </a:ext>
                </a:extLst>
              </p:cNvPr>
              <p:cNvSpPr/>
              <p:nvPr/>
            </p:nvSpPr>
            <p:spPr>
              <a:xfrm>
                <a:off x="11396923" y="6029326"/>
                <a:ext cx="3017520" cy="1600200"/>
              </a:xfrm>
              <a:prstGeom prst="roundRect">
                <a:avLst>
                  <a:gd name="adj" fmla="val 10000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 w="15875">
                <a:solidFill>
                  <a:schemeClr val="tx1">
                    <a:lumMod val="95000"/>
                    <a:lumOff val="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28016" tIns="54864" rIns="128016" bIns="54864" rtlCol="0" anchor="ctr"/>
              <a:lstStyle/>
              <a:p>
                <a:pPr algn="ctr"/>
                <a:r>
                  <a:rPr sz="2800" b="1" dirty="0">
                    <a:solidFill>
                      <a:schemeClr val="tx1"/>
                    </a:solidFill>
                    <a:latin typeface="Times New Roman"/>
                  </a:rPr>
                  <a:t>Episodic cost</a:t>
                </a:r>
              </a:p>
              <a:p>
                <a:pPr algn="ctr"/>
                <a:r>
                  <a:rPr sz="2000" b="0" dirty="0">
                    <a:solidFill>
                      <a:schemeClr val="tx1"/>
                    </a:solidFill>
                    <a:latin typeface="Times New Roman"/>
                  </a:rPr>
                  <a:t>undiscounted sum</a:t>
                </a:r>
              </a:p>
              <a:p>
                <a:pPr algn="ctr"/>
                <a:r>
                  <a:rPr b="0" dirty="0">
                    <a:solidFill>
                      <a:schemeClr val="tx1"/>
                    </a:solidFill>
                    <a:latin typeface="Times New Roman"/>
                  </a:rPr>
                  <a:t>over 250 steps</a:t>
                </a:r>
              </a:p>
            </p:txBody>
          </p:sp>
          <p:sp>
            <p:nvSpPr>
              <p:cNvPr id="51" name="Rounded Rectangle 8">
                <a:extLst>
                  <a:ext uri="{FF2B5EF4-FFF2-40B4-BE49-F238E27FC236}">
                    <a16:creationId xmlns:a16="http://schemas.microsoft.com/office/drawing/2014/main" id="{6E2C77B0-5827-8546-8EE7-99E1125FC651}"/>
                  </a:ext>
                </a:extLst>
              </p:cNvPr>
              <p:cNvSpPr/>
              <p:nvPr/>
            </p:nvSpPr>
            <p:spPr>
              <a:xfrm>
                <a:off x="15420282" y="6029326"/>
                <a:ext cx="2431733" cy="1600200"/>
              </a:xfrm>
              <a:prstGeom prst="roundRect">
                <a:avLst>
                  <a:gd name="adj" fmla="val 10000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 w="15875">
                <a:solidFill>
                  <a:schemeClr val="tx1">
                    <a:lumMod val="95000"/>
                    <a:lumOff val="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28016" tIns="54864" rIns="128016" bIns="54864" rtlCol="0" anchor="ctr"/>
              <a:lstStyle/>
              <a:p>
                <a:pPr algn="ctr"/>
                <a:r>
                  <a:rPr sz="2800" b="1" dirty="0">
                    <a:solidFill>
                      <a:schemeClr val="tx1"/>
                    </a:solidFill>
                    <a:latin typeface="Times New Roman"/>
                  </a:rPr>
                  <a:t>Budget</a:t>
                </a:r>
              </a:p>
              <a:p>
                <a:pPr algn="ctr"/>
                <a:r>
                  <a:rPr sz="2400" b="1" dirty="0">
                    <a:solidFill>
                      <a:schemeClr val="tx1"/>
                    </a:solidFill>
                    <a:latin typeface="Times New Roman"/>
                  </a:rPr>
                  <a:t>d = 25</a:t>
                </a:r>
              </a:p>
              <a:p>
                <a:pPr algn="ctr"/>
                <a:r>
                  <a:rPr sz="2400" b="1" dirty="0">
                    <a:solidFill>
                      <a:schemeClr val="tx1"/>
                    </a:solidFill>
                    <a:latin typeface="Times New Roman"/>
                  </a:rPr>
                  <a:t>or d = 15</a:t>
                </a:r>
              </a:p>
            </p:txBody>
          </p:sp>
          <p:cxnSp>
            <p:nvCxnSpPr>
              <p:cNvPr id="52" name="Connector 12">
                <a:extLst>
                  <a:ext uri="{FF2B5EF4-FFF2-40B4-BE49-F238E27FC236}">
                    <a16:creationId xmlns:a16="http://schemas.microsoft.com/office/drawing/2014/main" id="{6040B8B3-0235-1B43-B53A-3AA0F8A85578}"/>
                  </a:ext>
                </a:extLst>
              </p:cNvPr>
              <p:cNvCxnSpPr>
                <a:stCxn id="49" idx="3"/>
                <a:endCxn id="50" idx="1"/>
              </p:cNvCxnSpPr>
              <p:nvPr/>
            </p:nvCxnSpPr>
            <p:spPr>
              <a:xfrm>
                <a:off x="10391083" y="6829426"/>
                <a:ext cx="1005840" cy="0"/>
              </a:xfrm>
              <a:prstGeom prst="line">
                <a:avLst/>
              </a:prstGeom>
              <a:ln w="22225">
                <a:solidFill>
                  <a:schemeClr val="tx1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Connector 13">
                <a:extLst>
                  <a:ext uri="{FF2B5EF4-FFF2-40B4-BE49-F238E27FC236}">
                    <a16:creationId xmlns:a16="http://schemas.microsoft.com/office/drawing/2014/main" id="{385EFE4E-390A-769E-D18C-417A24137E3A}"/>
                  </a:ext>
                </a:extLst>
              </p:cNvPr>
              <p:cNvCxnSpPr>
                <a:cxnSpLocks/>
                <a:stCxn id="50" idx="3"/>
                <a:endCxn id="51" idx="1"/>
              </p:cNvCxnSpPr>
              <p:nvPr/>
            </p:nvCxnSpPr>
            <p:spPr>
              <a:xfrm>
                <a:off x="14414443" y="6829426"/>
                <a:ext cx="1005839" cy="0"/>
              </a:xfrm>
              <a:prstGeom prst="line">
                <a:avLst/>
              </a:prstGeom>
              <a:ln w="22225">
                <a:solidFill>
                  <a:schemeClr val="tx1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8263785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C4B51-EB57-39CE-2148-D8AD35824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719E2C94-D3DA-820A-EECD-DF644EB51CC7}"/>
              </a:ext>
            </a:extLst>
          </p:cNvPr>
          <p:cNvSpPr txBox="1"/>
          <p:nvPr/>
        </p:nvSpPr>
        <p:spPr>
          <a:xfrm>
            <a:off x="228600" y="756371"/>
            <a:ext cx="4715042" cy="6588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Methodology: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0340BE6-FAA4-D3EA-EC13-99990C26E889}"/>
              </a:ext>
            </a:extLst>
          </p:cNvPr>
          <p:cNvGrpSpPr/>
          <p:nvPr/>
        </p:nvGrpSpPr>
        <p:grpSpPr>
          <a:xfrm>
            <a:off x="6831674" y="4615647"/>
            <a:ext cx="7313452" cy="523220"/>
            <a:chOff x="5532377" y="1858833"/>
            <a:chExt cx="4535474" cy="523220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C306C53-D861-80D6-FFC8-0E4BCBA15F67}"/>
                </a:ext>
              </a:extLst>
            </p:cNvPr>
            <p:cNvSpPr txBox="1"/>
            <p:nvPr/>
          </p:nvSpPr>
          <p:spPr>
            <a:xfrm>
              <a:off x="5532377" y="1858833"/>
              <a:ext cx="243367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>
                <a:buFont typeface="Arial" panose="020B0604020202020204" pitchFamily="34" charset="0"/>
                <a:buChar char="•"/>
              </a:pPr>
              <a:endParaRPr lang="en-GB" sz="2800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56285EF-CD6B-DA86-7D3F-CCDEFAC375DC}"/>
                </a:ext>
              </a:extLst>
            </p:cNvPr>
            <p:cNvSpPr txBox="1"/>
            <p:nvPr/>
          </p:nvSpPr>
          <p:spPr>
            <a:xfrm>
              <a:off x="7696200" y="1858833"/>
              <a:ext cx="237165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>
                <a:buFont typeface="Arial" panose="020B0604020202020204" pitchFamily="34" charset="0"/>
                <a:buChar char="•"/>
              </a:pPr>
              <a:endParaRPr lang="en-GB" sz="2800" dirty="0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64B8C5FA-BE99-99BA-9541-38526BF53EF2}"/>
              </a:ext>
            </a:extLst>
          </p:cNvPr>
          <p:cNvGrpSpPr/>
          <p:nvPr/>
        </p:nvGrpSpPr>
        <p:grpSpPr>
          <a:xfrm>
            <a:off x="1267953" y="2019300"/>
            <a:ext cx="15752094" cy="1143000"/>
            <a:chOff x="1173946" y="2857500"/>
            <a:chExt cx="15752094" cy="1295400"/>
          </a:xfrm>
        </p:grpSpPr>
        <p:sp>
          <p:nvSpPr>
            <p:cNvPr id="31" name="Arrow: Right 30">
              <a:extLst>
                <a:ext uri="{FF2B5EF4-FFF2-40B4-BE49-F238E27FC236}">
                  <a16:creationId xmlns:a16="http://schemas.microsoft.com/office/drawing/2014/main" id="{CB5A4C98-4899-EA83-B8C7-603D4FD29DA1}"/>
                </a:ext>
              </a:extLst>
            </p:cNvPr>
            <p:cNvSpPr/>
            <p:nvPr/>
          </p:nvSpPr>
          <p:spPr>
            <a:xfrm>
              <a:off x="4292987" y="3181350"/>
              <a:ext cx="721697" cy="647700"/>
            </a:xfrm>
            <a:prstGeom prst="right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F3066853-554F-E7EC-EE22-BE68B70CAA1B}"/>
                </a:ext>
              </a:extLst>
            </p:cNvPr>
            <p:cNvGrpSpPr/>
            <p:nvPr/>
          </p:nvGrpSpPr>
          <p:grpSpPr>
            <a:xfrm>
              <a:off x="1173946" y="2857500"/>
              <a:ext cx="15752094" cy="1295400"/>
              <a:chOff x="1173946" y="2857500"/>
              <a:chExt cx="15752094" cy="1295400"/>
            </a:xfrm>
          </p:grpSpPr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CAC384C0-644F-D05A-FFAC-05EC9D8EE7A3}"/>
                  </a:ext>
                </a:extLst>
              </p:cNvPr>
              <p:cNvSpPr/>
              <p:nvPr/>
            </p:nvSpPr>
            <p:spPr>
              <a:xfrm>
                <a:off x="1173946" y="2857500"/>
                <a:ext cx="2636054" cy="1295400"/>
              </a:xfrm>
              <a:prstGeom prst="round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FI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Environment Setup</a:t>
                </a:r>
                <a:endParaRPr lang="en-GB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2A580B2A-3803-B7E5-FDD4-664A2ED81385}"/>
                  </a:ext>
                </a:extLst>
              </p:cNvPr>
              <p:cNvSpPr/>
              <p:nvPr/>
            </p:nvSpPr>
            <p:spPr>
              <a:xfrm>
                <a:off x="5497673" y="2857500"/>
                <a:ext cx="2636054" cy="1295400"/>
              </a:xfrm>
              <a:prstGeom prst="round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FI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Safety Cost</a:t>
                </a:r>
                <a:endParaRPr lang="en-GB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" name="Rectangle: Rounded Corners 27">
                <a:extLst>
                  <a:ext uri="{FF2B5EF4-FFF2-40B4-BE49-F238E27FC236}">
                    <a16:creationId xmlns:a16="http://schemas.microsoft.com/office/drawing/2014/main" id="{E4746BBC-9ED0-C88F-439E-CA5E5411CD84}"/>
                  </a:ext>
                </a:extLst>
              </p:cNvPr>
              <p:cNvSpPr/>
              <p:nvPr/>
            </p:nvSpPr>
            <p:spPr>
              <a:xfrm>
                <a:off x="14145125" y="2857500"/>
                <a:ext cx="2780915" cy="1295400"/>
              </a:xfrm>
              <a:prstGeom prst="round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FI" sz="28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Evaluation</a:t>
                </a:r>
                <a:r>
                  <a:rPr lang="en-FI" sz="2400" b="1" dirty="0">
                    <a:solidFill>
                      <a:schemeClr val="tx1"/>
                    </a:solidFill>
                  </a:rPr>
                  <a:t> </a:t>
                </a:r>
                <a:endParaRPr lang="en-GB" sz="24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7688481B-373A-80F2-91CA-FD43E77554FE}"/>
                  </a:ext>
                </a:extLst>
              </p:cNvPr>
              <p:cNvSpPr/>
              <p:nvPr/>
            </p:nvSpPr>
            <p:spPr>
              <a:xfrm>
                <a:off x="9821399" y="2857500"/>
                <a:ext cx="2636054" cy="1295400"/>
              </a:xfrm>
              <a:prstGeom prst="roundRect">
                <a:avLst/>
              </a:prstGeom>
              <a:solidFill>
                <a:srgbClr val="0070C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FI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Algorithm Arms</a:t>
                </a:r>
                <a:endParaRPr lang="en-GB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3" name="Arrow: Right 32">
                <a:extLst>
                  <a:ext uri="{FF2B5EF4-FFF2-40B4-BE49-F238E27FC236}">
                    <a16:creationId xmlns:a16="http://schemas.microsoft.com/office/drawing/2014/main" id="{6ED53665-F74A-F2B4-529E-549E68DD23AF}"/>
                  </a:ext>
                </a:extLst>
              </p:cNvPr>
              <p:cNvSpPr/>
              <p:nvPr/>
            </p:nvSpPr>
            <p:spPr>
              <a:xfrm>
                <a:off x="8610980" y="3181350"/>
                <a:ext cx="688258" cy="647700"/>
              </a:xfrm>
              <a:prstGeom prst="rightArrow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5" name="Arrow: Right 34">
                <a:extLst>
                  <a:ext uri="{FF2B5EF4-FFF2-40B4-BE49-F238E27FC236}">
                    <a16:creationId xmlns:a16="http://schemas.microsoft.com/office/drawing/2014/main" id="{1CBBD85D-CD75-6C41-AB6D-8331AEF8535A}"/>
                  </a:ext>
                </a:extLst>
              </p:cNvPr>
              <p:cNvSpPr/>
              <p:nvPr/>
            </p:nvSpPr>
            <p:spPr>
              <a:xfrm>
                <a:off x="12957160" y="3137137"/>
                <a:ext cx="688258" cy="647700"/>
              </a:xfrm>
              <a:prstGeom prst="rightArrow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95B0091B-5841-BC40-4C38-0B242C3492C5}"/>
              </a:ext>
            </a:extLst>
          </p:cNvPr>
          <p:cNvSpPr/>
          <p:nvPr/>
        </p:nvSpPr>
        <p:spPr>
          <a:xfrm>
            <a:off x="9709433" y="1711747"/>
            <a:ext cx="3048000" cy="175535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1531D1-2654-1EDB-498B-E2C82E985FFD}"/>
              </a:ext>
            </a:extLst>
          </p:cNvPr>
          <p:cNvSpPr txBox="1"/>
          <p:nvPr/>
        </p:nvSpPr>
        <p:spPr>
          <a:xfrm>
            <a:off x="4717287" y="4525641"/>
            <a:ext cx="885342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Wingdings" panose="05000000000000000000" pitchFamily="2" charset="2"/>
              <a:buChar char="§"/>
            </a:pPr>
            <a:r>
              <a:rPr lang="en-FI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Proximal Policy Optimization (PPO)</a:t>
            </a:r>
          </a:p>
          <a:p>
            <a:pPr marL="514350" indent="-514350">
              <a:buFont typeface="Wingdings" panose="05000000000000000000" pitchFamily="2" charset="2"/>
              <a:buChar char="§"/>
            </a:pPr>
            <a:endParaRPr lang="en-FI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Wingdings" panose="05000000000000000000" pitchFamily="2" charset="2"/>
              <a:buChar char="§"/>
            </a:pPr>
            <a:r>
              <a:rPr lang="en-FI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PPO (baseline)</a:t>
            </a:r>
          </a:p>
          <a:p>
            <a:pPr marL="514350" indent="-514350">
              <a:buFont typeface="Wingdings" panose="05000000000000000000" pitchFamily="2" charset="2"/>
              <a:buChar char="§"/>
            </a:pPr>
            <a:endParaRPr lang="en-FI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Wingdings" panose="05000000000000000000" pitchFamily="2" charset="2"/>
              <a:buChar char="§"/>
            </a:pPr>
            <a:r>
              <a:rPr lang="en-FI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 Proximal Policy Optimization (</a:t>
            </a:r>
            <a:r>
              <a:rPr lang="en-FI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cPPO</a:t>
            </a:r>
            <a:r>
              <a:rPr lang="en-FI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514350" indent="-514350">
              <a:buFont typeface="Wingdings" panose="05000000000000000000" pitchFamily="2" charset="2"/>
              <a:buChar char="§"/>
            </a:pPr>
            <a:endParaRPr lang="en-FI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Wingdings" panose="05000000000000000000" pitchFamily="2" charset="2"/>
              <a:buChar char="§"/>
            </a:pPr>
            <a:r>
              <a:rPr lang="en-FI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Budget Limit d = 25 &amp; 15 </a:t>
            </a: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38712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69629-DF0E-B701-4625-7FF713A7B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9EC50B51-938D-EBCA-DCF6-5390281DA778}"/>
              </a:ext>
            </a:extLst>
          </p:cNvPr>
          <p:cNvSpPr txBox="1"/>
          <p:nvPr/>
        </p:nvSpPr>
        <p:spPr>
          <a:xfrm>
            <a:off x="228600" y="756371"/>
            <a:ext cx="4715042" cy="6588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Methodology: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62DCFDA-8905-E8A0-31E0-1546084918C8}"/>
              </a:ext>
            </a:extLst>
          </p:cNvPr>
          <p:cNvGrpSpPr/>
          <p:nvPr/>
        </p:nvGrpSpPr>
        <p:grpSpPr>
          <a:xfrm>
            <a:off x="6831674" y="4615647"/>
            <a:ext cx="7313452" cy="523220"/>
            <a:chOff x="5532377" y="1858833"/>
            <a:chExt cx="4535474" cy="523220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3A5125A-3AA6-7A9C-2336-B738F977857E}"/>
                </a:ext>
              </a:extLst>
            </p:cNvPr>
            <p:cNvSpPr txBox="1"/>
            <p:nvPr/>
          </p:nvSpPr>
          <p:spPr>
            <a:xfrm>
              <a:off x="5532377" y="1858833"/>
              <a:ext cx="243367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>
                <a:buFont typeface="Arial" panose="020B0604020202020204" pitchFamily="34" charset="0"/>
                <a:buChar char="•"/>
              </a:pPr>
              <a:endParaRPr lang="en-GB" sz="2800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0C19B77-7543-9C02-F050-26E2442E5930}"/>
                </a:ext>
              </a:extLst>
            </p:cNvPr>
            <p:cNvSpPr txBox="1"/>
            <p:nvPr/>
          </p:nvSpPr>
          <p:spPr>
            <a:xfrm>
              <a:off x="7696200" y="1858833"/>
              <a:ext cx="237165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>
                <a:buFont typeface="Arial" panose="020B0604020202020204" pitchFamily="34" charset="0"/>
                <a:buChar char="•"/>
              </a:pPr>
              <a:endParaRPr lang="en-GB" sz="2800" dirty="0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2B8E0E5F-4D4E-8771-1A84-A3F40B86CD13}"/>
              </a:ext>
            </a:extLst>
          </p:cNvPr>
          <p:cNvGrpSpPr/>
          <p:nvPr/>
        </p:nvGrpSpPr>
        <p:grpSpPr>
          <a:xfrm>
            <a:off x="1267953" y="2019300"/>
            <a:ext cx="15752094" cy="1219200"/>
            <a:chOff x="1173946" y="2857500"/>
            <a:chExt cx="15752094" cy="1295400"/>
          </a:xfrm>
        </p:grpSpPr>
        <p:sp>
          <p:nvSpPr>
            <p:cNvPr id="31" name="Arrow: Right 30">
              <a:extLst>
                <a:ext uri="{FF2B5EF4-FFF2-40B4-BE49-F238E27FC236}">
                  <a16:creationId xmlns:a16="http://schemas.microsoft.com/office/drawing/2014/main" id="{24593304-64A9-5DC9-6E17-576EB97BFD6A}"/>
                </a:ext>
              </a:extLst>
            </p:cNvPr>
            <p:cNvSpPr/>
            <p:nvPr/>
          </p:nvSpPr>
          <p:spPr>
            <a:xfrm>
              <a:off x="4292987" y="3181350"/>
              <a:ext cx="721697" cy="647700"/>
            </a:xfrm>
            <a:prstGeom prst="right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7B587713-D94E-D962-9060-C1DF7DA85C7F}"/>
                </a:ext>
              </a:extLst>
            </p:cNvPr>
            <p:cNvGrpSpPr/>
            <p:nvPr/>
          </p:nvGrpSpPr>
          <p:grpSpPr>
            <a:xfrm>
              <a:off x="1173946" y="2857500"/>
              <a:ext cx="15752094" cy="1295400"/>
              <a:chOff x="1173946" y="2857500"/>
              <a:chExt cx="15752094" cy="1295400"/>
            </a:xfrm>
          </p:grpSpPr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25179C15-E452-BC44-9177-DADE58BC6727}"/>
                  </a:ext>
                </a:extLst>
              </p:cNvPr>
              <p:cNvSpPr/>
              <p:nvPr/>
            </p:nvSpPr>
            <p:spPr>
              <a:xfrm>
                <a:off x="1173946" y="2857500"/>
                <a:ext cx="2636054" cy="1295400"/>
              </a:xfrm>
              <a:prstGeom prst="round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FI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Environment Setup</a:t>
                </a:r>
                <a:endParaRPr lang="en-GB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2D4B761A-7E7D-D498-F0B4-DD8A9B8F4DCC}"/>
                  </a:ext>
                </a:extLst>
              </p:cNvPr>
              <p:cNvSpPr/>
              <p:nvPr/>
            </p:nvSpPr>
            <p:spPr>
              <a:xfrm>
                <a:off x="5497673" y="2857500"/>
                <a:ext cx="2636054" cy="1295400"/>
              </a:xfrm>
              <a:prstGeom prst="round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FI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Safety Cost</a:t>
                </a:r>
                <a:endParaRPr lang="en-GB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" name="Rectangle: Rounded Corners 27">
                <a:extLst>
                  <a:ext uri="{FF2B5EF4-FFF2-40B4-BE49-F238E27FC236}">
                    <a16:creationId xmlns:a16="http://schemas.microsoft.com/office/drawing/2014/main" id="{04BFE9B0-7B3E-8930-2BE7-E06454635A69}"/>
                  </a:ext>
                </a:extLst>
              </p:cNvPr>
              <p:cNvSpPr/>
              <p:nvPr/>
            </p:nvSpPr>
            <p:spPr>
              <a:xfrm>
                <a:off x="14145125" y="2857500"/>
                <a:ext cx="2780915" cy="1295400"/>
              </a:xfrm>
              <a:prstGeom prst="round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FI" sz="28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Evaluation</a:t>
                </a:r>
                <a:r>
                  <a:rPr lang="en-FI" sz="2400" b="1" dirty="0">
                    <a:solidFill>
                      <a:schemeClr val="tx1"/>
                    </a:solidFill>
                  </a:rPr>
                  <a:t> </a:t>
                </a:r>
                <a:endParaRPr lang="en-GB" sz="24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CA605747-07A5-F8C8-0E8C-425EBDDEC64D}"/>
                  </a:ext>
                </a:extLst>
              </p:cNvPr>
              <p:cNvSpPr/>
              <p:nvPr/>
            </p:nvSpPr>
            <p:spPr>
              <a:xfrm>
                <a:off x="9821399" y="2857500"/>
                <a:ext cx="2636054" cy="1295400"/>
              </a:xfrm>
              <a:prstGeom prst="roundRect">
                <a:avLst/>
              </a:prstGeom>
              <a:solidFill>
                <a:srgbClr val="0070C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FI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Algorithm Arms</a:t>
                </a:r>
                <a:endParaRPr lang="en-GB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3" name="Arrow: Right 32">
                <a:extLst>
                  <a:ext uri="{FF2B5EF4-FFF2-40B4-BE49-F238E27FC236}">
                    <a16:creationId xmlns:a16="http://schemas.microsoft.com/office/drawing/2014/main" id="{DE25D286-3777-D4D9-B467-97CEBC1BF3D1}"/>
                  </a:ext>
                </a:extLst>
              </p:cNvPr>
              <p:cNvSpPr/>
              <p:nvPr/>
            </p:nvSpPr>
            <p:spPr>
              <a:xfrm>
                <a:off x="8610980" y="3181350"/>
                <a:ext cx="688258" cy="647700"/>
              </a:xfrm>
              <a:prstGeom prst="rightArrow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5" name="Arrow: Right 34">
                <a:extLst>
                  <a:ext uri="{FF2B5EF4-FFF2-40B4-BE49-F238E27FC236}">
                    <a16:creationId xmlns:a16="http://schemas.microsoft.com/office/drawing/2014/main" id="{474D1B28-0E6C-E451-5649-5CA4E0807693}"/>
                  </a:ext>
                </a:extLst>
              </p:cNvPr>
              <p:cNvSpPr/>
              <p:nvPr/>
            </p:nvSpPr>
            <p:spPr>
              <a:xfrm>
                <a:off x="12957160" y="3137137"/>
                <a:ext cx="688258" cy="647700"/>
              </a:xfrm>
              <a:prstGeom prst="rightArrow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00B2059B-8D05-34C7-DD04-08326341D3F6}"/>
              </a:ext>
            </a:extLst>
          </p:cNvPr>
          <p:cNvSpPr/>
          <p:nvPr/>
        </p:nvSpPr>
        <p:spPr>
          <a:xfrm>
            <a:off x="14097000" y="1711747"/>
            <a:ext cx="3048000" cy="183155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279A18-5ED4-9B27-606B-C533B2B511F6}"/>
              </a:ext>
            </a:extLst>
          </p:cNvPr>
          <p:cNvSpPr txBox="1"/>
          <p:nvPr/>
        </p:nvSpPr>
        <p:spPr>
          <a:xfrm>
            <a:off x="4747842" y="4147394"/>
            <a:ext cx="8853426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Wingdings" panose="05000000000000000000" pitchFamily="2" charset="2"/>
              <a:buChar char="§"/>
            </a:pPr>
            <a:r>
              <a:rPr lang="en-FI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256 parallel robots</a:t>
            </a:r>
          </a:p>
          <a:p>
            <a:pPr marL="514350" indent="-514350">
              <a:buFont typeface="Wingdings" panose="05000000000000000000" pitchFamily="2" charset="2"/>
              <a:buChar char="§"/>
            </a:pPr>
            <a:endParaRPr lang="en-FI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Wingdings" panose="05000000000000000000" pitchFamily="2" charset="2"/>
              <a:buChar char="§"/>
            </a:pPr>
            <a:r>
              <a:rPr lang="en-FI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1000 episodes per arm, total 45,000 episodes</a:t>
            </a:r>
          </a:p>
          <a:p>
            <a:pPr marL="514350" indent="-514350">
              <a:buFont typeface="Wingdings" panose="05000000000000000000" pitchFamily="2" charset="2"/>
              <a:buChar char="§"/>
            </a:pPr>
            <a:endParaRPr lang="en-FI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Wingdings" panose="05000000000000000000" pitchFamily="2" charset="2"/>
              <a:buChar char="§"/>
            </a:pPr>
            <a:r>
              <a:rPr lang="en-FI" sz="3200" dirty="0">
                <a:latin typeface="Times New Roman"/>
                <a:cs typeface="Times New Roman" panose="02020603050405020304" pitchFamily="18" charset="0"/>
              </a:rPr>
              <a:t>3 different seeds (101, 102, 103)</a:t>
            </a:r>
            <a:endParaRPr lang="en-FI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FI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Wingdings" panose="05000000000000000000" pitchFamily="2" charset="2"/>
              <a:buChar char="§"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Collision keep-out</a:t>
            </a:r>
            <a:r>
              <a:rPr lang="en-FI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-- 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cm above table</a:t>
            </a:r>
          </a:p>
          <a:p>
            <a:pPr marL="514350" indent="-514350">
              <a:buFont typeface="Wingdings" panose="05000000000000000000" pitchFamily="2" charset="2"/>
              <a:buChar char="§"/>
            </a:pPr>
            <a:endParaRPr lang="en-FI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Wingdings" panose="05000000000000000000" pitchFamily="2" charset="2"/>
              <a:buChar char="§"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Joint-limit margin</a:t>
            </a:r>
            <a:r>
              <a:rPr lang="en-FI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-- 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0.175 rad (10°)</a:t>
            </a:r>
          </a:p>
          <a:p>
            <a:pPr marL="514350" indent="-514350">
              <a:buFont typeface="Wingdings" panose="05000000000000000000" pitchFamily="2" charset="2"/>
              <a:buChar char="§"/>
            </a:pPr>
            <a:endParaRPr lang="en-FI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Wingdings" panose="05000000000000000000" pitchFamily="2" charset="2"/>
              <a:buChar char="§"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Singularity floor  w = √det(JJᵀ)</a:t>
            </a:r>
            <a:r>
              <a:rPr lang="en-FI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-- 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 &lt; 0.06</a:t>
            </a:r>
          </a:p>
        </p:txBody>
      </p:sp>
    </p:spTree>
    <p:extLst>
      <p:ext uri="{BB962C8B-B14F-4D97-AF65-F5344CB8AC3E}">
        <p14:creationId xmlns:p14="http://schemas.microsoft.com/office/powerpoint/2010/main" val="14889173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85800" y="723900"/>
            <a:ext cx="3800642" cy="6588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Methodology: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009A9B-1F79-04FD-0E3A-2B40E3326A53}"/>
              </a:ext>
            </a:extLst>
          </p:cNvPr>
          <p:cNvSpPr txBox="1"/>
          <p:nvPr/>
        </p:nvSpPr>
        <p:spPr>
          <a:xfrm>
            <a:off x="4262521" y="1714500"/>
            <a:ext cx="97629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I" sz="3200" dirty="0">
                <a:solidFill>
                  <a:srgbClr val="1A1A1A"/>
                </a:solidFill>
                <a:latin typeface="Times New Roman"/>
              </a:rPr>
              <a:t>T</a:t>
            </a:r>
            <a:r>
              <a:rPr lang="en-GB" sz="3200" dirty="0">
                <a:solidFill>
                  <a:srgbClr val="1A1A1A"/>
                </a:solidFill>
                <a:latin typeface="Times New Roman"/>
              </a:rPr>
              <a:t>he </a:t>
            </a:r>
            <a:r>
              <a:rPr lang="en-FI" sz="3200" dirty="0">
                <a:solidFill>
                  <a:srgbClr val="1A1A1A"/>
                </a:solidFill>
                <a:latin typeface="Times New Roman"/>
              </a:rPr>
              <a:t>3</a:t>
            </a:r>
            <a:r>
              <a:rPr lang="en-GB" sz="3200" dirty="0">
                <a:solidFill>
                  <a:srgbClr val="1A1A1A"/>
                </a:solidFill>
                <a:latin typeface="Times New Roman"/>
              </a:rPr>
              <a:t> arms, and what each one isolates</a:t>
            </a:r>
            <a:endParaRPr lang="en-GB" sz="320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CA5DC40-5E73-B29B-39B4-0FE4CBFD3299}"/>
              </a:ext>
            </a:extLst>
          </p:cNvPr>
          <p:cNvGrpSpPr/>
          <p:nvPr/>
        </p:nvGrpSpPr>
        <p:grpSpPr>
          <a:xfrm>
            <a:off x="1219200" y="3314700"/>
            <a:ext cx="15849600" cy="2590800"/>
            <a:chOff x="685800" y="2631040"/>
            <a:chExt cx="15849600" cy="1521860"/>
          </a:xfrm>
        </p:grpSpPr>
        <p:sp>
          <p:nvSpPr>
            <p:cNvPr id="9" name="Rounded Rectangle 4">
              <a:extLst>
                <a:ext uri="{FF2B5EF4-FFF2-40B4-BE49-F238E27FC236}">
                  <a16:creationId xmlns:a16="http://schemas.microsoft.com/office/drawing/2014/main" id="{89853F8C-D941-477A-E892-4B82395CDBF2}"/>
                </a:ext>
              </a:extLst>
            </p:cNvPr>
            <p:cNvSpPr/>
            <p:nvPr/>
          </p:nvSpPr>
          <p:spPr>
            <a:xfrm>
              <a:off x="685800" y="2631040"/>
              <a:ext cx="4145280" cy="1521860"/>
            </a:xfrm>
            <a:prstGeom prst="roundRect">
              <a:avLst>
                <a:gd name="adj" fmla="val 10000"/>
              </a:avLst>
            </a:prstGeom>
            <a:solidFill>
              <a:schemeClr val="bg1"/>
            </a:solidFill>
            <a:ln w="15875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8016" tIns="54864" rIns="128016" bIns="54864" rtlCol="0" anchor="ctr"/>
            <a:lstStyle/>
            <a:p>
              <a:pPr algn="ctr"/>
              <a:r>
                <a:rPr sz="40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PPO (baseline)</a:t>
              </a:r>
            </a:p>
            <a:p>
              <a:pPr algn="ctr"/>
              <a:r>
                <a:rPr sz="2800" b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cost critic present</a:t>
              </a:r>
            </a:p>
            <a:p>
              <a:pPr algn="ctr"/>
              <a:r>
                <a:rPr sz="3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λ ceiling = 0</a:t>
              </a:r>
            </a:p>
            <a:p>
              <a:pPr algn="ctr"/>
              <a:r>
                <a:rPr sz="2400" b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the unconstrained reference</a:t>
              </a:r>
            </a:p>
          </p:txBody>
        </p:sp>
        <p:sp>
          <p:nvSpPr>
            <p:cNvPr id="11" name="Rounded Rectangle 5">
              <a:extLst>
                <a:ext uri="{FF2B5EF4-FFF2-40B4-BE49-F238E27FC236}">
                  <a16:creationId xmlns:a16="http://schemas.microsoft.com/office/drawing/2014/main" id="{136ADB07-835F-FA95-EC66-1E18E49E28AF}"/>
                </a:ext>
              </a:extLst>
            </p:cNvPr>
            <p:cNvSpPr/>
            <p:nvPr/>
          </p:nvSpPr>
          <p:spPr>
            <a:xfrm>
              <a:off x="6537960" y="2631040"/>
              <a:ext cx="4145280" cy="1521860"/>
            </a:xfrm>
            <a:prstGeom prst="roundRect">
              <a:avLst>
                <a:gd name="adj" fmla="val 10000"/>
              </a:avLst>
            </a:prstGeom>
            <a:solidFill>
              <a:schemeClr val="bg1"/>
            </a:solidFill>
            <a:ln w="15875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8016" tIns="54864" rIns="128016" bIns="54864" rtlCol="0" anchor="ctr"/>
            <a:lstStyle/>
            <a:p>
              <a:pPr algn="ctr"/>
              <a:r>
                <a:rPr sz="4000" b="1" dirty="0" err="1">
                  <a:solidFill>
                    <a:schemeClr val="accent1"/>
                  </a:solidFill>
                  <a:latin typeface="Times New Roman"/>
                </a:rPr>
                <a:t>cPPO</a:t>
              </a:r>
              <a:endParaRPr sz="4000" b="1" dirty="0">
                <a:solidFill>
                  <a:schemeClr val="accent1"/>
                </a:solidFill>
                <a:latin typeface="Times New Roman"/>
              </a:endParaRPr>
            </a:p>
            <a:p>
              <a:pPr algn="ctr"/>
              <a:r>
                <a:rPr sz="2800" b="0" dirty="0">
                  <a:solidFill>
                    <a:schemeClr val="tx1"/>
                  </a:solidFill>
                  <a:latin typeface="Times New Roman"/>
                </a:rPr>
                <a:t>cost critic free</a:t>
              </a:r>
            </a:p>
            <a:p>
              <a:pPr algn="ctr"/>
              <a:r>
                <a:rPr sz="3200" b="1" dirty="0">
                  <a:solidFill>
                    <a:schemeClr val="tx1"/>
                  </a:solidFill>
                  <a:latin typeface="Times New Roman"/>
                </a:rPr>
                <a:t>budget d = 25</a:t>
              </a:r>
            </a:p>
            <a:p>
              <a:pPr algn="ctr"/>
              <a:r>
                <a:rPr sz="2400" b="0" dirty="0">
                  <a:solidFill>
                    <a:schemeClr val="tx1"/>
                  </a:solidFill>
                  <a:latin typeface="Times New Roman"/>
                </a:rPr>
                <a:t>constraint active</a:t>
              </a:r>
            </a:p>
          </p:txBody>
        </p:sp>
        <p:sp>
          <p:nvSpPr>
            <p:cNvPr id="13" name="Rounded Rectangle 6">
              <a:extLst>
                <a:ext uri="{FF2B5EF4-FFF2-40B4-BE49-F238E27FC236}">
                  <a16:creationId xmlns:a16="http://schemas.microsoft.com/office/drawing/2014/main" id="{69CF0B13-F013-ACD4-00FB-D147CBAAF30D}"/>
                </a:ext>
              </a:extLst>
            </p:cNvPr>
            <p:cNvSpPr/>
            <p:nvPr/>
          </p:nvSpPr>
          <p:spPr>
            <a:xfrm>
              <a:off x="12390120" y="2631040"/>
              <a:ext cx="4145280" cy="1521860"/>
            </a:xfrm>
            <a:prstGeom prst="roundRect">
              <a:avLst>
                <a:gd name="adj" fmla="val 10000"/>
              </a:avLst>
            </a:prstGeom>
            <a:solidFill>
              <a:schemeClr val="bg1"/>
            </a:solidFill>
            <a:ln w="15875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8016" tIns="54864" rIns="128016" bIns="54864" rtlCol="0" anchor="ctr"/>
            <a:lstStyle/>
            <a:p>
              <a:pPr algn="ctr"/>
              <a:r>
                <a:rPr sz="4000" b="1" dirty="0" err="1">
                  <a:solidFill>
                    <a:srgbClr val="00B050"/>
                  </a:solidFill>
                  <a:latin typeface="Times New Roman"/>
                </a:rPr>
                <a:t>cPPO</a:t>
              </a:r>
              <a:r>
                <a:rPr sz="4000" b="1" dirty="0">
                  <a:solidFill>
                    <a:srgbClr val="00B050"/>
                  </a:solidFill>
                  <a:latin typeface="Times New Roman"/>
                </a:rPr>
                <a:t> tightened</a:t>
              </a:r>
            </a:p>
            <a:p>
              <a:pPr algn="ctr"/>
              <a:r>
                <a:rPr sz="2800" b="0" dirty="0">
                  <a:solidFill>
                    <a:schemeClr val="tx1"/>
                  </a:solidFill>
                  <a:latin typeface="Times New Roman"/>
                </a:rPr>
                <a:t>cost critic free</a:t>
              </a:r>
            </a:p>
            <a:p>
              <a:pPr algn="ctr"/>
              <a:r>
                <a:rPr sz="3200" b="1" dirty="0">
                  <a:solidFill>
                    <a:schemeClr val="tx1"/>
                  </a:solidFill>
                  <a:latin typeface="Times New Roman"/>
                </a:rPr>
                <a:t>budget d = 15</a:t>
              </a:r>
            </a:p>
            <a:p>
              <a:pPr algn="ctr"/>
              <a:r>
                <a:rPr sz="2400" b="0" dirty="0">
                  <a:solidFill>
                    <a:schemeClr val="tx1"/>
                  </a:solidFill>
                  <a:latin typeface="Times New Roman"/>
                </a:rPr>
                <a:t>binds on every seed</a:t>
              </a:r>
            </a:p>
          </p:txBody>
        </p:sp>
        <p:sp>
          <p:nvSpPr>
            <p:cNvPr id="17" name="Right Arrow 8">
              <a:extLst>
                <a:ext uri="{FF2B5EF4-FFF2-40B4-BE49-F238E27FC236}">
                  <a16:creationId xmlns:a16="http://schemas.microsoft.com/office/drawing/2014/main" id="{39F59860-7FE0-BE43-11D4-D4396BFF52E9}"/>
                </a:ext>
              </a:extLst>
            </p:cNvPr>
            <p:cNvSpPr/>
            <p:nvPr/>
          </p:nvSpPr>
          <p:spPr>
            <a:xfrm>
              <a:off x="10926572" y="3099582"/>
              <a:ext cx="1220216" cy="584775"/>
            </a:xfrm>
            <a:prstGeom prst="rightArrow">
              <a:avLst/>
            </a:prstGeom>
            <a:solidFill>
              <a:srgbClr val="767676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Right Arrow 8">
              <a:extLst>
                <a:ext uri="{FF2B5EF4-FFF2-40B4-BE49-F238E27FC236}">
                  <a16:creationId xmlns:a16="http://schemas.microsoft.com/office/drawing/2014/main" id="{6EB7D832-32FF-E710-1F0E-2E45AEDBA0D3}"/>
                </a:ext>
              </a:extLst>
            </p:cNvPr>
            <p:cNvSpPr/>
            <p:nvPr/>
          </p:nvSpPr>
          <p:spPr>
            <a:xfrm>
              <a:off x="5120640" y="3099582"/>
              <a:ext cx="1220216" cy="584775"/>
            </a:xfrm>
            <a:prstGeom prst="rightArrow">
              <a:avLst/>
            </a:prstGeom>
            <a:solidFill>
              <a:srgbClr val="767676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58AAF3A8-77CD-0E74-87B6-BB9B7A2FC1E6}"/>
              </a:ext>
            </a:extLst>
          </p:cNvPr>
          <p:cNvSpPr txBox="1"/>
          <p:nvPr/>
        </p:nvSpPr>
        <p:spPr>
          <a:xfrm>
            <a:off x="4755388" y="2604684"/>
            <a:ext cx="3017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 dirty="0">
                <a:highlight>
                  <a:srgbClr val="FFFF00"/>
                </a:highlight>
                <a:latin typeface="Times New Roman"/>
              </a:rPr>
              <a:t>activate the budget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DB3A73C-EB9D-D9C8-A82C-0BD396FBB720}"/>
              </a:ext>
            </a:extLst>
          </p:cNvPr>
          <p:cNvSpPr txBox="1"/>
          <p:nvPr/>
        </p:nvSpPr>
        <p:spPr>
          <a:xfrm>
            <a:off x="10668000" y="2604685"/>
            <a:ext cx="3017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 dirty="0">
                <a:highlight>
                  <a:srgbClr val="FFFF00"/>
                </a:highlight>
                <a:latin typeface="Times New Roman"/>
              </a:rPr>
              <a:t>tighten the budget</a:t>
            </a:r>
          </a:p>
        </p:txBody>
      </p:sp>
      <p:sp>
        <p:nvSpPr>
          <p:cNvPr id="6" name="Rounded Rectangle 11">
            <a:extLst>
              <a:ext uri="{FF2B5EF4-FFF2-40B4-BE49-F238E27FC236}">
                <a16:creationId xmlns:a16="http://schemas.microsoft.com/office/drawing/2014/main" id="{1A65937B-8DC6-208A-6831-5880A1FCDB42}"/>
              </a:ext>
            </a:extLst>
          </p:cNvPr>
          <p:cNvSpPr/>
          <p:nvPr/>
        </p:nvSpPr>
        <p:spPr>
          <a:xfrm>
            <a:off x="1219200" y="6400800"/>
            <a:ext cx="8046720" cy="731520"/>
          </a:xfrm>
          <a:prstGeom prst="roundRect">
            <a:avLst>
              <a:gd name="adj" fmla="val 30000"/>
            </a:avLst>
          </a:prstGeom>
          <a:solidFill>
            <a:schemeClr val="bg1"/>
          </a:solidFill>
          <a:ln w="15875">
            <a:solidFill>
              <a:schemeClr val="tx1">
                <a:lumMod val="95000"/>
                <a:lumOff val="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54864" rIns="128016" bIns="54864" rtlCol="0" anchor="ctr"/>
          <a:lstStyle/>
          <a:p>
            <a:pPr algn="ctr"/>
            <a:r>
              <a:rPr sz="2400" b="1" dirty="0">
                <a:solidFill>
                  <a:schemeClr val="tx1"/>
                </a:solidFill>
                <a:latin typeface="Times New Roman"/>
              </a:rPr>
              <a:t>isolates the constraint effect — the claim of this thesis</a:t>
            </a:r>
          </a:p>
        </p:txBody>
      </p:sp>
      <p:sp>
        <p:nvSpPr>
          <p:cNvPr id="10" name="Rounded Rectangle 12">
            <a:extLst>
              <a:ext uri="{FF2B5EF4-FFF2-40B4-BE49-F238E27FC236}">
                <a16:creationId xmlns:a16="http://schemas.microsoft.com/office/drawing/2014/main" id="{BEFBFC72-221C-B656-EC79-9F20DCFB58D6}"/>
              </a:ext>
            </a:extLst>
          </p:cNvPr>
          <p:cNvSpPr/>
          <p:nvPr/>
        </p:nvSpPr>
        <p:spPr>
          <a:xfrm>
            <a:off x="9845040" y="6400800"/>
            <a:ext cx="7223760" cy="731520"/>
          </a:xfrm>
          <a:prstGeom prst="roundRect">
            <a:avLst>
              <a:gd name="adj" fmla="val 30000"/>
            </a:avLst>
          </a:prstGeom>
          <a:solidFill>
            <a:schemeClr val="bg1"/>
          </a:solidFill>
          <a:ln w="15875">
            <a:solidFill>
              <a:schemeClr val="tx1">
                <a:lumMod val="95000"/>
                <a:lumOff val="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54864" rIns="128016" bIns="54864" rtlCol="0" anchor="ctr"/>
          <a:lstStyle/>
          <a:p>
            <a:pPr algn="ctr"/>
            <a:r>
              <a:rPr sz="2400" b="1" dirty="0">
                <a:solidFill>
                  <a:schemeClr val="tx1"/>
                </a:solidFill>
                <a:latin typeface="Times New Roman"/>
              </a:rPr>
              <a:t>isolates budget sensitivity — does it scale?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675D1A22-7165-288E-0287-E034B469876F}"/>
              </a:ext>
            </a:extLst>
          </p:cNvPr>
          <p:cNvSpPr/>
          <p:nvPr/>
        </p:nvSpPr>
        <p:spPr>
          <a:xfrm>
            <a:off x="1219200" y="7627620"/>
            <a:ext cx="15849600" cy="1478280"/>
          </a:xfrm>
          <a:prstGeom prst="roundRect">
            <a:avLst>
              <a:gd name="adj" fmla="val 16000"/>
            </a:avLst>
          </a:prstGeom>
          <a:solidFill>
            <a:srgbClr val="F4F4F4"/>
          </a:solidFill>
          <a:ln w="15875">
            <a:solidFill>
              <a:srgbClr val="767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54864" rIns="128016" bIns="54864" rtlCol="0" anchor="ctr"/>
          <a:lstStyle/>
          <a:p>
            <a:pPr algn="ctr">
              <a:lnSpc>
                <a:spcPct val="200000"/>
              </a:lnSpc>
            </a:pPr>
            <a:r>
              <a:rPr sz="2400" b="1" dirty="0">
                <a:solidFill>
                  <a:srgbClr val="1A1A1A"/>
                </a:solidFill>
                <a:latin typeface="Times New Roman"/>
              </a:rPr>
              <a:t>5 seeds per arm (1, 3, 4, 52, 54)  →  15 trained policies. Every quantity is reported with its spread across seeds.</a:t>
            </a:r>
          </a:p>
          <a:p>
            <a:pPr algn="ctr">
              <a:lnSpc>
                <a:spcPct val="200000"/>
              </a:lnSpc>
            </a:pPr>
            <a:r>
              <a:rPr sz="2000" b="0" dirty="0">
                <a:solidFill>
                  <a:srgbClr val="5A5A5A"/>
                </a:solidFill>
                <a:latin typeface="Times New Roman"/>
              </a:rPr>
              <a:t>This design answers all three gaps found in the literature: no control arm, no dispersion, one budget only.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59635" y="723900"/>
            <a:ext cx="2117303" cy="698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RESULT: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535354" y="3996158"/>
            <a:ext cx="15217292" cy="5837082"/>
            <a:chOff x="0" y="0"/>
            <a:chExt cx="20289723" cy="7782777"/>
          </a:xfrm>
        </p:grpSpPr>
        <p:grpSp>
          <p:nvGrpSpPr>
            <p:cNvPr id="4" name="Group 4"/>
            <p:cNvGrpSpPr/>
            <p:nvPr/>
          </p:nvGrpSpPr>
          <p:grpSpPr>
            <a:xfrm>
              <a:off x="5138580" y="134272"/>
              <a:ext cx="743230" cy="62402"/>
              <a:chOff x="0" y="0"/>
              <a:chExt cx="332740" cy="2794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332740" cy="27940"/>
              </a:xfrm>
              <a:custGeom>
                <a:avLst/>
                <a:gdLst/>
                <a:ahLst/>
                <a:cxnLst/>
                <a:rect l="l" t="t" r="r" b="b"/>
                <a:pathLst>
                  <a:path w="332740" h="27940">
                    <a:moveTo>
                      <a:pt x="13970" y="0"/>
                    </a:moveTo>
                    <a:lnTo>
                      <a:pt x="166370" y="0"/>
                    </a:lnTo>
                    <a:lnTo>
                      <a:pt x="166370" y="13970"/>
                    </a:lnTo>
                    <a:lnTo>
                      <a:pt x="166370" y="0"/>
                    </a:lnTo>
                    <a:lnTo>
                      <a:pt x="318770" y="0"/>
                    </a:lnTo>
                    <a:lnTo>
                      <a:pt x="332740" y="0"/>
                    </a:lnTo>
                    <a:lnTo>
                      <a:pt x="332740" y="27940"/>
                    </a:lnTo>
                    <a:lnTo>
                      <a:pt x="318770" y="27940"/>
                    </a:lnTo>
                    <a:lnTo>
                      <a:pt x="166370" y="27940"/>
                    </a:lnTo>
                    <a:lnTo>
                      <a:pt x="13970" y="27940"/>
                    </a:lnTo>
                    <a:lnTo>
                      <a:pt x="0" y="2794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11A1A"/>
              </a:solidFill>
            </p:spPr>
          </p:sp>
        </p:grpSp>
        <p:sp>
          <p:nvSpPr>
            <p:cNvPr id="6" name="Freeform 6"/>
            <p:cNvSpPr/>
            <p:nvPr/>
          </p:nvSpPr>
          <p:spPr>
            <a:xfrm>
              <a:off x="903639" y="1118281"/>
              <a:ext cx="5270841" cy="5847311"/>
            </a:xfrm>
            <a:custGeom>
              <a:avLst/>
              <a:gdLst/>
              <a:ahLst/>
              <a:cxnLst/>
              <a:rect l="l" t="t" r="r" b="b"/>
              <a:pathLst>
                <a:path w="5270841" h="5847311">
                  <a:moveTo>
                    <a:pt x="0" y="0"/>
                  </a:moveTo>
                  <a:lnTo>
                    <a:pt x="5270841" y="0"/>
                  </a:lnTo>
                  <a:lnTo>
                    <a:pt x="5270841" y="5847311"/>
                  </a:lnTo>
                  <a:lnTo>
                    <a:pt x="0" y="58473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7" name="Group 7"/>
            <p:cNvGrpSpPr/>
            <p:nvPr/>
          </p:nvGrpSpPr>
          <p:grpSpPr>
            <a:xfrm>
              <a:off x="8824347" y="134272"/>
              <a:ext cx="743230" cy="62402"/>
              <a:chOff x="0" y="0"/>
              <a:chExt cx="332740" cy="2794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332740" cy="27940"/>
              </a:xfrm>
              <a:custGeom>
                <a:avLst/>
                <a:gdLst/>
                <a:ahLst/>
                <a:cxnLst/>
                <a:rect l="l" t="t" r="r" b="b"/>
                <a:pathLst>
                  <a:path w="332740" h="27940">
                    <a:moveTo>
                      <a:pt x="13970" y="0"/>
                    </a:moveTo>
                    <a:lnTo>
                      <a:pt x="166370" y="0"/>
                    </a:lnTo>
                    <a:lnTo>
                      <a:pt x="166370" y="13970"/>
                    </a:lnTo>
                    <a:lnTo>
                      <a:pt x="166370" y="0"/>
                    </a:lnTo>
                    <a:lnTo>
                      <a:pt x="318770" y="0"/>
                    </a:lnTo>
                    <a:lnTo>
                      <a:pt x="332740" y="0"/>
                    </a:lnTo>
                    <a:lnTo>
                      <a:pt x="332740" y="27940"/>
                    </a:lnTo>
                    <a:lnTo>
                      <a:pt x="318770" y="27940"/>
                    </a:lnTo>
                    <a:lnTo>
                      <a:pt x="166370" y="27940"/>
                    </a:lnTo>
                    <a:lnTo>
                      <a:pt x="13970" y="27940"/>
                    </a:lnTo>
                    <a:lnTo>
                      <a:pt x="0" y="2794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257A8"/>
              </a:solidFill>
            </p:spPr>
          </p:sp>
        </p:grpSp>
        <p:grpSp>
          <p:nvGrpSpPr>
            <p:cNvPr id="9" name="Group 9"/>
            <p:cNvGrpSpPr/>
            <p:nvPr/>
          </p:nvGrpSpPr>
          <p:grpSpPr>
            <a:xfrm>
              <a:off x="12418820" y="134272"/>
              <a:ext cx="743230" cy="62402"/>
              <a:chOff x="0" y="0"/>
              <a:chExt cx="332740" cy="2794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332740" cy="27940"/>
              </a:xfrm>
              <a:custGeom>
                <a:avLst/>
                <a:gdLst/>
                <a:ahLst/>
                <a:cxnLst/>
                <a:rect l="l" t="t" r="r" b="b"/>
                <a:pathLst>
                  <a:path w="332740" h="27940">
                    <a:moveTo>
                      <a:pt x="13970" y="0"/>
                    </a:moveTo>
                    <a:lnTo>
                      <a:pt x="166370" y="0"/>
                    </a:lnTo>
                    <a:lnTo>
                      <a:pt x="166370" y="13970"/>
                    </a:lnTo>
                    <a:lnTo>
                      <a:pt x="166370" y="0"/>
                    </a:lnTo>
                    <a:lnTo>
                      <a:pt x="318770" y="0"/>
                    </a:lnTo>
                    <a:lnTo>
                      <a:pt x="332740" y="0"/>
                    </a:lnTo>
                    <a:lnTo>
                      <a:pt x="332740" y="27940"/>
                    </a:lnTo>
                    <a:lnTo>
                      <a:pt x="318770" y="27940"/>
                    </a:lnTo>
                    <a:lnTo>
                      <a:pt x="166370" y="27940"/>
                    </a:lnTo>
                    <a:lnTo>
                      <a:pt x="13970" y="27940"/>
                    </a:lnTo>
                    <a:lnTo>
                      <a:pt x="0" y="2794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7803D"/>
              </a:solidFill>
            </p:spPr>
          </p:sp>
        </p:grpSp>
        <p:sp>
          <p:nvSpPr>
            <p:cNvPr id="11" name="Freeform 11"/>
            <p:cNvSpPr/>
            <p:nvPr/>
          </p:nvSpPr>
          <p:spPr>
            <a:xfrm>
              <a:off x="7997467" y="1118281"/>
              <a:ext cx="5270841" cy="5847311"/>
            </a:xfrm>
            <a:custGeom>
              <a:avLst/>
              <a:gdLst/>
              <a:ahLst/>
              <a:cxnLst/>
              <a:rect l="l" t="t" r="r" b="b"/>
              <a:pathLst>
                <a:path w="5270841" h="5847311">
                  <a:moveTo>
                    <a:pt x="0" y="0"/>
                  </a:moveTo>
                  <a:lnTo>
                    <a:pt x="5270841" y="0"/>
                  </a:lnTo>
                  <a:lnTo>
                    <a:pt x="5270841" y="5847311"/>
                  </a:lnTo>
                  <a:lnTo>
                    <a:pt x="0" y="58473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>
              <a:off x="15018882" y="1118281"/>
              <a:ext cx="5270841" cy="5847311"/>
            </a:xfrm>
            <a:custGeom>
              <a:avLst/>
              <a:gdLst/>
              <a:ahLst/>
              <a:cxnLst/>
              <a:rect l="l" t="t" r="r" b="b"/>
              <a:pathLst>
                <a:path w="5270841" h="5847311">
                  <a:moveTo>
                    <a:pt x="0" y="0"/>
                  </a:moveTo>
                  <a:lnTo>
                    <a:pt x="5270841" y="0"/>
                  </a:lnTo>
                  <a:lnTo>
                    <a:pt x="5270841" y="5847311"/>
                  </a:lnTo>
                  <a:lnTo>
                    <a:pt x="0" y="58473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502951" y="1587368"/>
              <a:ext cx="452112" cy="4746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31"/>
                </a:lnSpc>
              </a:pPr>
              <a:r>
                <a:rPr lang="en-US" sz="2094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0.4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02951" y="2753328"/>
              <a:ext cx="452112" cy="4746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31"/>
                </a:lnSpc>
              </a:pPr>
              <a:r>
                <a:rPr lang="en-US" sz="2094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0.3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02951" y="3919310"/>
              <a:ext cx="452112" cy="4746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31"/>
                </a:lnSpc>
              </a:pPr>
              <a:r>
                <a:rPr lang="en-US" sz="2094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0.2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02951" y="5085291"/>
              <a:ext cx="452112" cy="4746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31"/>
                </a:lnSpc>
              </a:pPr>
              <a:r>
                <a:rPr lang="en-US" sz="2094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0.1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02951" y="6251251"/>
              <a:ext cx="452112" cy="4746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31"/>
                </a:lnSpc>
              </a:pPr>
              <a:r>
                <a:rPr lang="en-US" sz="2094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0.0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56123" y="6825593"/>
              <a:ext cx="180845" cy="4746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31"/>
                </a:lnSpc>
              </a:pPr>
              <a:r>
                <a:rPr lang="en-US" sz="2094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502904" y="6825593"/>
              <a:ext cx="542535" cy="4746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31"/>
                </a:lnSpc>
              </a:pPr>
              <a:r>
                <a:rPr lang="en-US" sz="2094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500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038341" y="6825593"/>
              <a:ext cx="723380" cy="4746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31"/>
                </a:lnSpc>
              </a:pPr>
              <a:r>
                <a:rPr lang="en-US" sz="2094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1000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662434" y="6825593"/>
              <a:ext cx="723380" cy="4746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31"/>
                </a:lnSpc>
              </a:pPr>
              <a:r>
                <a:rPr lang="en-US" sz="2094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1500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389609" y="1137426"/>
              <a:ext cx="632957" cy="4746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31"/>
                </a:lnSpc>
              </a:pPr>
              <a:r>
                <a:rPr lang="en-US" sz="2094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0.08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389609" y="2415872"/>
              <a:ext cx="632957" cy="4746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31"/>
                </a:lnSpc>
              </a:pPr>
              <a:r>
                <a:rPr lang="en-US" sz="2094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0.06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389609" y="3694339"/>
              <a:ext cx="632957" cy="4746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31"/>
                </a:lnSpc>
              </a:pPr>
              <a:r>
                <a:rPr lang="en-US" sz="2094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0.04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389609" y="4972806"/>
              <a:ext cx="632957" cy="4746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31"/>
                </a:lnSpc>
              </a:pPr>
              <a:r>
                <a:rPr lang="en-US" sz="2094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0.02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389609" y="6251251"/>
              <a:ext cx="632957" cy="4746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31"/>
                </a:lnSpc>
              </a:pPr>
              <a:r>
                <a:rPr lang="en-US" sz="2094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0.00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120074" y="6825593"/>
              <a:ext cx="180845" cy="4746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31"/>
                </a:lnSpc>
              </a:pPr>
              <a:r>
                <a:rPr lang="en-US" sz="2094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566875" y="6825593"/>
              <a:ext cx="542535" cy="4746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31"/>
                </a:lnSpc>
              </a:pPr>
              <a:r>
                <a:rPr lang="en-US" sz="2094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500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102312" y="6825593"/>
              <a:ext cx="723380" cy="4746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31"/>
                </a:lnSpc>
              </a:pPr>
              <a:r>
                <a:rPr lang="en-US" sz="2094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1000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2726405" y="6825593"/>
              <a:ext cx="723380" cy="4746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31"/>
                </a:lnSpc>
              </a:pPr>
              <a:r>
                <a:rPr lang="en-US" sz="2094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1500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4098976" y="2134562"/>
              <a:ext cx="994647" cy="4746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31"/>
                </a:lnSpc>
              </a:pPr>
              <a:r>
                <a:rPr lang="en-US" sz="2094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0.0006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098976" y="3506792"/>
              <a:ext cx="994647" cy="4746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31"/>
                </a:lnSpc>
              </a:pPr>
              <a:r>
                <a:rPr lang="en-US" sz="2094" dirty="0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0.0004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4098976" y="4879022"/>
              <a:ext cx="994647" cy="4746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31"/>
                </a:lnSpc>
              </a:pPr>
              <a:r>
                <a:rPr lang="en-US" sz="2094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0.0002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4098976" y="6251251"/>
              <a:ext cx="994647" cy="4746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31"/>
                </a:lnSpc>
              </a:pPr>
              <a:r>
                <a:rPr lang="en-US" sz="2094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0.0000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5184045" y="6825593"/>
              <a:ext cx="180845" cy="4746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31"/>
                </a:lnSpc>
              </a:pPr>
              <a:r>
                <a:rPr lang="en-US" sz="2094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6630846" y="6825593"/>
              <a:ext cx="542535" cy="4746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31"/>
                </a:lnSpc>
              </a:pPr>
              <a:r>
                <a:rPr lang="en-US" sz="2094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500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8166283" y="6825593"/>
              <a:ext cx="723380" cy="4746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31"/>
                </a:lnSpc>
              </a:pPr>
              <a:r>
                <a:rPr lang="en-US" sz="2094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1000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192872" y="7258089"/>
              <a:ext cx="2832563" cy="5246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83"/>
                </a:lnSpc>
              </a:pPr>
              <a:r>
                <a:rPr lang="en-US" sz="2345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Training iteration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256843" y="7258089"/>
              <a:ext cx="2832563" cy="5246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83"/>
                </a:lnSpc>
              </a:pPr>
              <a:r>
                <a:rPr lang="en-US" sz="2345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Training iteration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6320815" y="7258089"/>
              <a:ext cx="2832563" cy="5246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83"/>
                </a:lnSpc>
              </a:pPr>
              <a:r>
                <a:rPr lang="en-US" sz="2345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Training iteration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 rot="-5400000">
              <a:off x="-1207162" y="3737786"/>
              <a:ext cx="2824712" cy="5246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83"/>
                </a:lnSpc>
              </a:pPr>
              <a:r>
                <a:rPr lang="en-US" sz="2345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Cost contribution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345569" y="597941"/>
              <a:ext cx="2519531" cy="5676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18"/>
                </a:lnSpc>
              </a:pPr>
              <a:r>
                <a:rPr lang="en-US" sz="2512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(a) Singularity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474027" y="597941"/>
              <a:ext cx="2387578" cy="5676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18"/>
                </a:lnSpc>
              </a:pPr>
              <a:r>
                <a:rPr lang="en-US" sz="2512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(b) Joint limit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6638825" y="597941"/>
              <a:ext cx="2182287" cy="5676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18"/>
                </a:lnSpc>
              </a:pPr>
              <a:r>
                <a:rPr lang="en-US" sz="2512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(c) Collision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122929" y="-57150"/>
              <a:ext cx="2092716" cy="4579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14"/>
                </a:lnSpc>
              </a:pPr>
              <a:r>
                <a:rPr lang="en-US" sz="2010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PPO (baseline)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808718" y="-57150"/>
              <a:ext cx="1999315" cy="4579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14"/>
                </a:lnSpc>
              </a:pPr>
              <a:r>
                <a:rPr lang="en-US" sz="2010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cPPO (d = 25)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3403191" y="-57150"/>
              <a:ext cx="1999315" cy="4579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14"/>
                </a:lnSpc>
              </a:pPr>
              <a:r>
                <a:rPr lang="en-US" sz="2010">
                  <a:solidFill>
                    <a:srgbClr val="1A1A1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cPPO (d = 15)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4499965" y="1238641"/>
            <a:ext cx="9288069" cy="2262761"/>
            <a:chOff x="0" y="0"/>
            <a:chExt cx="12384092" cy="3017015"/>
          </a:xfrm>
        </p:grpSpPr>
        <p:sp>
          <p:nvSpPr>
            <p:cNvPr id="49" name="TextBox 49"/>
            <p:cNvSpPr txBox="1"/>
            <p:nvPr/>
          </p:nvSpPr>
          <p:spPr>
            <a:xfrm>
              <a:off x="3813827" y="-66675"/>
              <a:ext cx="3648828" cy="6326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899"/>
                </a:lnSpc>
                <a:spcBef>
                  <a:spcPct val="0"/>
                </a:spcBef>
              </a:pPr>
              <a:r>
                <a:rPr lang="en-US" sz="2785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Mean Reward: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0" y="807549"/>
              <a:ext cx="3813827" cy="22094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61893" lvl="1" indent="-280946" algn="r">
                <a:lnSpc>
                  <a:spcPts val="4554"/>
                </a:lnSpc>
                <a:buFont typeface="Arial"/>
                <a:buChar char="•"/>
              </a:pPr>
              <a:r>
                <a:rPr lang="en-US" sz="2602" b="1">
                  <a:solidFill>
                    <a:srgbClr val="D1393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PPO(baseline) : </a:t>
              </a:r>
            </a:p>
            <a:p>
              <a:pPr marL="561893" lvl="1" indent="-280946" algn="r">
                <a:lnSpc>
                  <a:spcPts val="4554"/>
                </a:lnSpc>
                <a:buFont typeface="Arial"/>
                <a:buChar char="•"/>
              </a:pPr>
              <a:r>
                <a:rPr lang="en-US" sz="2602" b="1">
                  <a:solidFill>
                    <a:srgbClr val="3362A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cPPO(d=25) : </a:t>
              </a:r>
            </a:p>
            <a:p>
              <a:pPr marL="561893" lvl="1" indent="-280946" algn="r">
                <a:lnSpc>
                  <a:spcPts val="4554"/>
                </a:lnSpc>
                <a:buFont typeface="Arial"/>
                <a:buChar char="•"/>
              </a:pPr>
              <a:r>
                <a:rPr lang="en-US" sz="2602" b="1">
                  <a:solidFill>
                    <a:srgbClr val="31884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cPPO(d=15) : 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873382" y="-66675"/>
              <a:ext cx="4510711" cy="6326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899"/>
                </a:lnSpc>
              </a:pPr>
              <a:r>
                <a:rPr lang="en-US" sz="2785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Lifting-object reward: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977824" y="807305"/>
              <a:ext cx="1320834" cy="22097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549"/>
                </a:lnSpc>
              </a:pPr>
              <a:r>
                <a:rPr lang="en-US" sz="2599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133.06</a:t>
              </a:r>
            </a:p>
            <a:p>
              <a:pPr algn="ctr">
                <a:lnSpc>
                  <a:spcPts val="4549"/>
                </a:lnSpc>
              </a:pPr>
              <a:r>
                <a:rPr lang="en-US" sz="2599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132.18</a:t>
              </a:r>
            </a:p>
            <a:p>
              <a:pPr algn="ctr">
                <a:lnSpc>
                  <a:spcPts val="4549"/>
                </a:lnSpc>
              </a:pPr>
              <a:r>
                <a:rPr lang="en-US" sz="2599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134.09 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523361" y="807305"/>
              <a:ext cx="1210752" cy="22097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549"/>
                </a:lnSpc>
              </a:pPr>
              <a:r>
                <a:rPr lang="en-US" sz="2599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9.467 </a:t>
              </a:r>
            </a:p>
            <a:p>
              <a:pPr algn="ctr">
                <a:lnSpc>
                  <a:spcPts val="4549"/>
                </a:lnSpc>
              </a:pPr>
              <a:r>
                <a:rPr lang="en-US" sz="2599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9.437 </a:t>
              </a:r>
            </a:p>
            <a:p>
              <a:pPr algn="ctr">
                <a:lnSpc>
                  <a:spcPts val="4549"/>
                </a:lnSpc>
              </a:pPr>
              <a:r>
                <a:rPr lang="en-US" sz="2599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9.441 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59635" y="711215"/>
            <a:ext cx="2117303" cy="698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RESULT: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79830" y="9368103"/>
            <a:ext cx="5294211" cy="441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*Tail mean(last 10% of the training  data)</a:t>
            </a:r>
          </a:p>
        </p:txBody>
      </p:sp>
      <p:sp>
        <p:nvSpPr>
          <p:cNvPr id="4" name="Freeform 4"/>
          <p:cNvSpPr/>
          <p:nvPr/>
        </p:nvSpPr>
        <p:spPr>
          <a:xfrm>
            <a:off x="1028700" y="3140293"/>
            <a:ext cx="17079405" cy="13613709"/>
          </a:xfrm>
          <a:custGeom>
            <a:avLst/>
            <a:gdLst/>
            <a:ahLst/>
            <a:cxnLst/>
            <a:rect l="l" t="t" r="r" b="b"/>
            <a:pathLst>
              <a:path w="17079405" h="13613709">
                <a:moveTo>
                  <a:pt x="0" y="0"/>
                </a:moveTo>
                <a:lnTo>
                  <a:pt x="17079405" y="0"/>
                </a:lnTo>
                <a:lnTo>
                  <a:pt x="17079405" y="13613709"/>
                </a:lnTo>
                <a:lnTo>
                  <a:pt x="0" y="136137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551074" y="1572663"/>
            <a:ext cx="13437781" cy="1244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 constraint costs nothing measurable</a:t>
            </a:r>
          </a:p>
          <a:p>
            <a:pPr algn="ctr">
              <a:lnSpc>
                <a:spcPts val="4900"/>
              </a:lnSpc>
            </a:pPr>
            <a:r>
              <a:rPr lang="en-US" sz="35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Constraining the policy did not cost task performance at either budget.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715466" y="2127517"/>
            <a:ext cx="10857068" cy="7853279"/>
          </a:xfrm>
          <a:custGeom>
            <a:avLst/>
            <a:gdLst/>
            <a:ahLst/>
            <a:cxnLst/>
            <a:rect l="l" t="t" r="r" b="b"/>
            <a:pathLst>
              <a:path w="10857068" h="7853279">
                <a:moveTo>
                  <a:pt x="0" y="0"/>
                </a:moveTo>
                <a:lnTo>
                  <a:pt x="10857068" y="0"/>
                </a:lnTo>
                <a:lnTo>
                  <a:pt x="10857068" y="7853280"/>
                </a:lnTo>
                <a:lnTo>
                  <a:pt x="0" y="78532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265468" y="711215"/>
            <a:ext cx="2117303" cy="698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RESULT: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949326" y="1215763"/>
            <a:ext cx="10389348" cy="1244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Safety: fewer true singularities, zero joint-limit contact</a:t>
            </a:r>
          </a:p>
          <a:p>
            <a:pPr algn="ctr">
              <a:lnSpc>
                <a:spcPts val="4900"/>
              </a:lnSpc>
            </a:pPr>
            <a:endParaRPr lang="en-US" sz="3500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38200" y="674665"/>
            <a:ext cx="3181841" cy="6588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Conclusion: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931317" y="1650423"/>
            <a:ext cx="14502802" cy="5415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</a:pPr>
            <a:r>
              <a:rPr lang="en-US" sz="32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 stated budget changes what a policy does — mostly by making it predictable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327066" y="2147713"/>
            <a:ext cx="13711304" cy="24954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104902" lvl="2" indent="-323851">
              <a:lnSpc>
                <a:spcPts val="675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Constraining the policy reduces unsafe </a:t>
            </a:r>
            <a:r>
              <a:rPr lang="en-US" sz="30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behaviour</a:t>
            </a:r>
            <a:r>
              <a: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marL="1104902" lvl="2" indent="-323851">
              <a:lnSpc>
                <a:spcPts val="675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 no measurable task cost. </a:t>
            </a:r>
          </a:p>
          <a:p>
            <a:pPr marL="1104902" lvl="2" indent="-323851">
              <a:lnSpc>
                <a:spcPts val="675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unanticipated effect is on consistency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17723" y="5140476"/>
            <a:ext cx="3867641" cy="6588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Future Work: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2751543" y="6138863"/>
            <a:ext cx="12564658" cy="1773307"/>
            <a:chOff x="0" y="-400050"/>
            <a:chExt cx="16752877" cy="2364409"/>
          </a:xfrm>
        </p:grpSpPr>
        <p:sp>
          <p:nvSpPr>
            <p:cNvPr id="7" name="TextBox 7"/>
            <p:cNvSpPr txBox="1"/>
            <p:nvPr/>
          </p:nvSpPr>
          <p:spPr>
            <a:xfrm>
              <a:off x="0" y="-400050"/>
              <a:ext cx="6288796" cy="2279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 algn="l">
                <a:lnSpc>
                  <a:spcPts val="7500"/>
                </a:lnSpc>
                <a:buFont typeface="Arial"/>
                <a:buChar char="•"/>
              </a:pPr>
              <a:r>
                <a:rPr lang="en-US" sz="30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IBVS systems</a:t>
              </a:r>
            </a:p>
            <a:p>
              <a:pPr marL="647700" lvl="1" indent="-323850" algn="l">
                <a:lnSpc>
                  <a:spcPts val="7500"/>
                </a:lnSpc>
                <a:buFont typeface="Arial"/>
                <a:buChar char="•"/>
              </a:pPr>
              <a:r>
                <a:rPr lang="en-US" sz="30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Sim-to-real application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089246" y="-400049"/>
              <a:ext cx="7663631" cy="236440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647700" lvl="1" indent="-323850" algn="l">
                <a:lnSpc>
                  <a:spcPts val="7500"/>
                </a:lnSpc>
                <a:buFont typeface="Arial"/>
                <a:buChar char="•"/>
              </a:pPr>
              <a:r>
                <a:rPr lang="en-US" sz="30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PID </a:t>
              </a:r>
              <a:r>
                <a:rPr lang="en-US" sz="3000" dirty="0" err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Lagrangian</a:t>
              </a:r>
              <a:endPara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647700" lvl="1" indent="-323850" algn="l">
                <a:lnSpc>
                  <a:spcPts val="7500"/>
                </a:lnSpc>
                <a:buFont typeface="Arial"/>
                <a:buChar char="•"/>
              </a:pPr>
              <a:r>
                <a:rPr lang="en-US" sz="30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More Seeds implementations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672969"/>
            <a:ext cx="4192553" cy="6588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Key Resources: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1640996"/>
            <a:ext cx="16230600" cy="7973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50"/>
              </a:lnSpc>
            </a:pPr>
            <a:r>
              <a: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[1] Altman, E. (1999). Constrained Markov Decision Processes. Chapman &amp; Hall/CRC.</a:t>
            </a:r>
          </a:p>
          <a:p>
            <a:pPr algn="l">
              <a:lnSpc>
                <a:spcPts val="5250"/>
              </a:lnSpc>
            </a:pPr>
            <a:r>
              <a: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[2] Schulman, J. et al. (2017). Proximal Policy Optimization Algorithms. arXiv:1707.06347.</a:t>
            </a:r>
          </a:p>
          <a:p>
            <a:pPr algn="l">
              <a:lnSpc>
                <a:spcPts val="5250"/>
              </a:lnSpc>
            </a:pPr>
            <a:r>
              <a: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[3] </a:t>
            </a:r>
            <a:r>
              <a:rPr lang="en-US" sz="30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Achiam</a:t>
            </a:r>
            <a:r>
              <a: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J. et al. (2017). Constrained Policy Optimization. Proc. ICML, PMLR 70.</a:t>
            </a:r>
          </a:p>
          <a:p>
            <a:pPr algn="l">
              <a:lnSpc>
                <a:spcPts val="5250"/>
              </a:lnSpc>
            </a:pPr>
            <a:r>
              <a: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[4] Ray, A., </a:t>
            </a:r>
            <a:r>
              <a:rPr lang="en-US" sz="30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Achiam</a:t>
            </a:r>
            <a:r>
              <a: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J., &amp; Amodei, D. (2019). Benchmarking Safe Exploration in Deep RL. OpenAI.</a:t>
            </a:r>
          </a:p>
          <a:p>
            <a:pPr algn="l">
              <a:lnSpc>
                <a:spcPts val="5250"/>
              </a:lnSpc>
            </a:pPr>
            <a:r>
              <a: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[5] </a:t>
            </a:r>
            <a:r>
              <a:rPr lang="en-US" sz="30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Stooke</a:t>
            </a:r>
            <a:r>
              <a: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A., </a:t>
            </a:r>
            <a:r>
              <a:rPr lang="en-US" sz="30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Achiam</a:t>
            </a:r>
            <a:r>
              <a: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J., &amp; </a:t>
            </a:r>
            <a:r>
              <a:rPr lang="en-US" sz="30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Abbeel</a:t>
            </a:r>
            <a:r>
              <a: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P. (2020). Responsive Safety in RL by PID </a:t>
            </a:r>
            <a:r>
              <a:rPr lang="en-US" sz="30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Lagrangian</a:t>
            </a:r>
            <a:r>
              <a: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Methods. Proc. ICML, PMLR 119.</a:t>
            </a:r>
          </a:p>
          <a:p>
            <a:pPr algn="l">
              <a:lnSpc>
                <a:spcPts val="5250"/>
              </a:lnSpc>
            </a:pPr>
            <a:r>
              <a: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[6] Yoshikawa, T. (1985). Manipulability of Robotic Mechanisms. Int. J. Robotics Research, 4(2).</a:t>
            </a:r>
          </a:p>
          <a:p>
            <a:pPr algn="l">
              <a:lnSpc>
                <a:spcPts val="5250"/>
              </a:lnSpc>
            </a:pPr>
            <a:r>
              <a: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[7] Henderson, P. et al. (2018). Deep Reinforcement Learning That Matters. Proc. AAAI 32(1).</a:t>
            </a:r>
          </a:p>
          <a:p>
            <a:pPr algn="l">
              <a:lnSpc>
                <a:spcPts val="5250"/>
              </a:lnSpc>
            </a:pPr>
            <a:r>
              <a: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[8] Khan, F. et al. (2026). RL for Precision Grasping and Safety-Critical Coordination in a Robotic Arm. Intelligent Service Robotics, 19(16).</a:t>
            </a:r>
          </a:p>
          <a:p>
            <a:pPr algn="l">
              <a:lnSpc>
                <a:spcPts val="5250"/>
              </a:lnSpc>
            </a:pPr>
            <a:r>
              <a: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[9] Shen, Y. et al. (2022). RL-Based Reactive Obstacle Avoidance for Redundant Manipulators. Entropy, 24(2).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674665"/>
            <a:ext cx="4191000" cy="6588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Key Resources: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1620002"/>
            <a:ext cx="16230600" cy="7858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49"/>
              </a:lnSpc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[10] Ferreira, H. C. &amp; Barbosa, R. S. (2025). Deep RL for Adaptive Robotic Grasping in Simulated Dynamic Environments. Future Internet, 17(10).</a:t>
            </a:r>
          </a:p>
          <a:p>
            <a:pPr algn="l">
              <a:lnSpc>
                <a:spcPts val="5249"/>
              </a:lnSpc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[11] Shahid, A. A. et al. (2022). Continuous Control Actions Learning and Adaptation for Robotic Manipulation through RL. Autonomous Robots, 46.</a:t>
            </a:r>
          </a:p>
          <a:p>
            <a:pPr algn="l">
              <a:lnSpc>
                <a:spcPts val="5249"/>
              </a:lnSpc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[12] Mittal, M. et al. (2023). Orbit: A Unified Simulation Framework for Interactive Robot Learning Environments. IEEE RA-L, 8(6).</a:t>
            </a:r>
          </a:p>
          <a:p>
            <a:pPr algn="l">
              <a:lnSpc>
                <a:spcPts val="5249"/>
              </a:lnSpc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[13] Rudin, N. et al. (2022). Learning to Walk in Minutes Using Massively Parallel Deep RL. Proc. CoRL, PMLR </a:t>
            </a:r>
          </a:p>
          <a:p>
            <a:pPr algn="l">
              <a:lnSpc>
                <a:spcPts val="5249"/>
              </a:lnSpc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[14] Universal Robots A/S (2023). UR5e Technical Specifications. Product datasheet.</a:t>
            </a:r>
          </a:p>
          <a:p>
            <a:pPr algn="l">
              <a:lnSpc>
                <a:spcPts val="5249"/>
              </a:lnSpc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[15] Khan, M. M. (2025). Enhancing Manipulator Control Through IBVS Techniques Using ROS2. BSc thesis, KUET.</a:t>
            </a:r>
          </a:p>
          <a:p>
            <a:pPr algn="l">
              <a:lnSpc>
                <a:spcPts val="5249"/>
              </a:lnSpc>
            </a:pPr>
            <a:endParaRPr lang="en-US" sz="29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70611" y="3571860"/>
            <a:ext cx="8946778" cy="1571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599"/>
              </a:lnSpc>
            </a:pPr>
            <a:r>
              <a:rPr lang="en-US" sz="89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THANK  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</TotalTime>
  <Words>1400</Words>
  <Application>Microsoft Office PowerPoint</Application>
  <PresentationFormat>Custom</PresentationFormat>
  <Paragraphs>254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Wingdings</vt:lpstr>
      <vt:lpstr>Times New Roman Bold</vt:lpstr>
      <vt:lpstr>Calibri</vt:lpstr>
      <vt:lpstr>Times New Roman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slides</dc:title>
  <dc:creator>Touhid Me</dc:creator>
  <cp:lastModifiedBy>Touhid Me</cp:lastModifiedBy>
  <cp:revision>14</cp:revision>
  <dcterms:created xsi:type="dcterms:W3CDTF">2006-08-16T00:00:00Z</dcterms:created>
  <dcterms:modified xsi:type="dcterms:W3CDTF">2026-08-07T10:16:29Z</dcterms:modified>
  <dc:identifier>DAHRbLu5xN4</dc:identifier>
</cp:coreProperties>
</file>