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2"/>
  </p:notesMasterIdLst>
  <p:sldIdLst>
    <p:sldId id="270" r:id="rId2"/>
    <p:sldId id="271" r:id="rId3"/>
    <p:sldId id="272" r:id="rId4"/>
    <p:sldId id="273" r:id="rId5"/>
    <p:sldId id="260" r:id="rId6"/>
    <p:sldId id="259" r:id="rId7"/>
    <p:sldId id="280" r:id="rId8"/>
    <p:sldId id="261" r:id="rId9"/>
    <p:sldId id="281" r:id="rId10"/>
    <p:sldId id="278" r:id="rId11"/>
    <p:sldId id="279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82" r:id="rId20"/>
    <p:sldId id="283" r:id="rId21"/>
  </p:sldIdLst>
  <p:sldSz cx="18288000" cy="10287000"/>
  <p:notesSz cx="6858000" cy="9144000"/>
  <p:embeddedFontLst>
    <p:embeddedFont>
      <p:font typeface="Times New Roman Bold" panose="02020803070505020304" pitchFamily="18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F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622" autoAdjust="0"/>
  </p:normalViewPr>
  <p:slideViewPr>
    <p:cSldViewPr>
      <p:cViewPr varScale="1">
        <p:scale>
          <a:sx n="52" d="100"/>
          <a:sy n="52" d="100"/>
        </p:scale>
        <p:origin x="101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A18BB-8BE7-4C7A-B3AF-66511F60AD35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CAC75-1D01-4395-A78B-1ABF48ECD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87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95590" y="6761146"/>
            <a:ext cx="1096820" cy="1258128"/>
          </a:xfrm>
          <a:custGeom>
            <a:avLst/>
            <a:gdLst/>
            <a:ahLst/>
            <a:cxnLst/>
            <a:rect l="l" t="t" r="r" b="b"/>
            <a:pathLst>
              <a:path w="1431643" h="1639128">
                <a:moveTo>
                  <a:pt x="0" y="0"/>
                </a:moveTo>
                <a:lnTo>
                  <a:pt x="1431644" y="0"/>
                </a:lnTo>
                <a:lnTo>
                  <a:pt x="1431644" y="1639127"/>
                </a:lnTo>
                <a:lnTo>
                  <a:pt x="0" y="163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652285"/>
            <a:ext cx="16230600" cy="236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2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Comparative Evaluation of Constrained and Unconstrained Deep Reinforcement Learning for Safe Robotic Grasping on a UR5e Manipulator in Simulation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25302" y="6173473"/>
            <a:ext cx="3281596" cy="197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</a:p>
          <a:p>
            <a:pPr marL="0" marR="0" lvl="0" indent="0" algn="l" defTabSz="914400" rtl="0" eaLnBrk="1" fontAlgn="auto" latinLnBrk="0" hangingPunct="1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MD ABDUR RABBI</a:t>
            </a:r>
          </a:p>
          <a:p>
            <a:pPr marL="0" marR="0" lvl="0" indent="0" algn="l" defTabSz="914400" rtl="0" eaLnBrk="1" fontAlgn="auto" latinLnBrk="0" hangingPunct="1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Roll: 2031023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79122" y="6268723"/>
            <a:ext cx="5475117" cy="214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Supervised by,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Priyo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Nath Roy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Dept. of Mechatronics Engineering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92848" y="9390575"/>
            <a:ext cx="91023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Khulna University of Engineering &amp; Technology, Khulna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63800" y="9390575"/>
            <a:ext cx="2802848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FI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8 August,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08042" y="2551667"/>
            <a:ext cx="7413145" cy="4954033"/>
          </a:xfrm>
          <a:custGeom>
            <a:avLst/>
            <a:gdLst/>
            <a:ahLst/>
            <a:cxnLst/>
            <a:rect l="l" t="t" r="r" b="b"/>
            <a:pathLst>
              <a:path w="7794145" h="5183666">
                <a:moveTo>
                  <a:pt x="0" y="0"/>
                </a:moveTo>
                <a:lnTo>
                  <a:pt x="7794145" y="0"/>
                </a:lnTo>
                <a:lnTo>
                  <a:pt x="7794145" y="5183666"/>
                </a:lnTo>
                <a:lnTo>
                  <a:pt x="0" y="5183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53607"/>
            <a:ext cx="3556893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3710" y="1477796"/>
            <a:ext cx="16230600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Bold"/>
                <a:ea typeface="Times New Roman Bold"/>
                <a:cs typeface="Times New Roman Bold"/>
                <a:sym typeface="Times New Roman Bold"/>
              </a:rPr>
              <a:t>UR5: A collaborative arm that shares space with people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107" y="2137261"/>
            <a:ext cx="8128893" cy="300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6-DOF, 5 kg payload, 850 mm reach</a:t>
            </a:r>
          </a:p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Max joint velocity 180 deg/s (𝜋 rad/s) </a:t>
            </a:r>
          </a:p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with ±360° working limit</a:t>
            </a:r>
          </a:p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Works next to people, not behind a fence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0096" y="6094945"/>
            <a:ext cx="7838914" cy="68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We use Reinforcement Learning (RL) to train robots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62569-A6A5-CF3B-D16D-392F9CA7EFAE}"/>
              </a:ext>
            </a:extLst>
          </p:cNvPr>
          <p:cNvSpPr txBox="1"/>
          <p:nvPr/>
        </p:nvSpPr>
        <p:spPr>
          <a:xfrm>
            <a:off x="9308041" y="7734300"/>
            <a:ext cx="7413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A human operator working side by side with a UR5 manipulator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415113-1877-846A-8A08-5AA255E2F76B}"/>
              </a:ext>
            </a:extLst>
          </p:cNvPr>
          <p:cNvSpPr txBox="1"/>
          <p:nvPr/>
        </p:nvSpPr>
        <p:spPr>
          <a:xfrm>
            <a:off x="17373600" y="95631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5107" y="659348"/>
            <a:ext cx="33147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7359016"/>
            <a:ext cx="16230600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Let’s not just train a polity based on reward and penalty - </a:t>
            </a:r>
            <a:r>
              <a:rPr kumimoji="0" lang="en-US" sz="300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start adding constraints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107" y="1943100"/>
            <a:ext cx="14468314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ctr">
              <a:buFont typeface="Wingdings" panose="05000000000000000000" pitchFamily="2" charset="2"/>
              <a:buChar char="q"/>
            </a:pPr>
            <a:r>
              <a:rPr lang="en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shapes Policy but Constrains add safety with consistency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ctr">
              <a:buFont typeface="Wingdings" panose="05000000000000000000" pitchFamily="2" charset="2"/>
              <a:buChar char="q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133C7-5E4D-874C-38E0-442F805E1672}"/>
              </a:ext>
            </a:extLst>
          </p:cNvPr>
          <p:cNvSpPr txBox="1"/>
          <p:nvPr/>
        </p:nvSpPr>
        <p:spPr>
          <a:xfrm>
            <a:off x="2667000" y="2781300"/>
            <a:ext cx="11506200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learned policy can't be inspected like a hand-coded controller — its behaviour is only known statistically</a:t>
            </a:r>
            <a:r>
              <a:rPr lang="en-FI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on this class of arm is already an active industrial requirement, not a hypothetical</a:t>
            </a:r>
            <a:endParaRPr lang="en-FI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only by trial and error, after the fact</a:t>
            </a:r>
            <a:endParaRPr lang="en-FI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tests the alternative: pull safety out of the reward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28113-CE26-65CF-5548-7547FEEFE753}"/>
              </a:ext>
            </a:extLst>
          </p:cNvPr>
          <p:cNvSpPr txBox="1"/>
          <p:nvPr/>
        </p:nvSpPr>
        <p:spPr>
          <a:xfrm>
            <a:off x="17373600" y="95631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84B52-18DD-06CA-72C2-9DFAECB8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B33DF3C-60D7-EB04-9673-6B20C0BE9D5F}"/>
              </a:ext>
            </a:extLst>
          </p:cNvPr>
          <p:cNvSpPr txBox="1"/>
          <p:nvPr/>
        </p:nvSpPr>
        <p:spPr>
          <a:xfrm>
            <a:off x="990600" y="693594"/>
            <a:ext cx="44958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FI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9D7564B-1FB6-760E-C83D-F24E46727C7F}"/>
              </a:ext>
            </a:extLst>
          </p:cNvPr>
          <p:cNvSpPr txBox="1"/>
          <p:nvPr/>
        </p:nvSpPr>
        <p:spPr>
          <a:xfrm>
            <a:off x="4400576" y="1714500"/>
            <a:ext cx="9486848" cy="50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 Against the Closest Work</a:t>
            </a:r>
            <a:endParaRPr lang="en-US" sz="30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7C714F-45E7-9114-8520-B75BF1BF3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403086"/>
              </p:ext>
            </p:extLst>
          </p:nvPr>
        </p:nvGraphicFramePr>
        <p:xfrm>
          <a:off x="1981200" y="2567496"/>
          <a:ext cx="14630400" cy="6919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45001885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3039366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75132958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41364194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Khan et al.</a:t>
                      </a:r>
                      <a:r>
                        <a:rPr lang="en-FI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[8] </a:t>
                      </a:r>
                      <a:endParaRPr lang="en-GB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 et al.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[</a:t>
                      </a:r>
                      <a:r>
                        <a:rPr lang="en-FI" sz="280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 </a:t>
                      </a:r>
                      <a:endParaRPr lang="en-GB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thesis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41824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Manipulator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Franka Panda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4-DOF planar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UR5e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02922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expressed 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 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124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Collision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Manipulability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Manipulability + joint limit + collision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201401"/>
                  </a:ext>
                </a:extLst>
              </a:tr>
              <a:tr h="8070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PPO-Lagrangian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SAC (unconstrained)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PPO-Lagrangian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976271"/>
                  </a:ext>
                </a:extLst>
              </a:tr>
              <a:tr h="8893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033367"/>
                  </a:ext>
                </a:extLst>
              </a:tr>
              <a:tr h="6905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Seed dispersion reported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(5 seeds)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(5 seeds)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028056"/>
                  </a:ext>
                </a:extLst>
              </a:tr>
              <a:tr h="8186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FI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Limit (d)</a:t>
                      </a:r>
                      <a:endParaRPr lang="en-GB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(d=25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(d=25 and d=15)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338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A04FD1C-B630-A4FE-7130-71F015D26585}"/>
              </a:ext>
            </a:extLst>
          </p:cNvPr>
          <p:cNvSpPr txBox="1"/>
          <p:nvPr/>
        </p:nvSpPr>
        <p:spPr>
          <a:xfrm>
            <a:off x="17373600" y="95631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0417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347" y="731674"/>
            <a:ext cx="5123236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12771" y="1924624"/>
            <a:ext cx="14462458" cy="5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Three gaps in the closest published work and the design response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7221" y="8133145"/>
            <a:ext cx="16293557" cy="1388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I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concrete gaps in the literature and our response to each: no control arm -- we add one; no dispersion -- we report five-seed spreads; one budget -- we test two.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FAD8C9-4324-5BD2-39F1-56FA36569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707298"/>
              </p:ext>
            </p:extLst>
          </p:nvPr>
        </p:nvGraphicFramePr>
        <p:xfrm>
          <a:off x="2137485" y="2933700"/>
          <a:ext cx="14013029" cy="4961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3485">
                  <a:extLst>
                    <a:ext uri="{9D8B030D-6E8A-4147-A177-3AD203B41FA5}">
                      <a16:colId xmlns:a16="http://schemas.microsoft.com/office/drawing/2014/main" val="1158292444"/>
                    </a:ext>
                  </a:extLst>
                </a:gridCol>
                <a:gridCol w="5184656">
                  <a:extLst>
                    <a:ext uri="{9D8B030D-6E8A-4147-A177-3AD203B41FA5}">
                      <a16:colId xmlns:a16="http://schemas.microsoft.com/office/drawing/2014/main" val="1569507600"/>
                    </a:ext>
                  </a:extLst>
                </a:gridCol>
                <a:gridCol w="5914888">
                  <a:extLst>
                    <a:ext uri="{9D8B030D-6E8A-4147-A177-3AD203B41FA5}">
                      <a16:colId xmlns:a16="http://schemas.microsoft.com/office/drawing/2014/main" val="4104253261"/>
                    </a:ext>
                  </a:extLst>
                </a:gridCol>
              </a:tblGrid>
              <a:tr h="1061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the literature does</a:t>
                      </a:r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thesis's response</a:t>
                      </a:r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249139"/>
                  </a:ext>
                </a:extLst>
              </a:tr>
              <a:tr h="1244870">
                <a:tc>
                  <a:txBody>
                    <a:bodyPr/>
                    <a:lstStyle/>
                    <a:p>
                      <a:pPr marL="377825" marR="0" lvl="1" indent="0" algn="ctr" defTabSz="914400" rtl="0" eaLnBrk="1" fontAlgn="auto" latinLnBrk="0" hangingPunct="1">
                        <a:lnSpc>
                          <a:spcPts val="6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control arm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Trains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cPPO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vs. PPO, reports the raw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measures the implementation term directly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269881"/>
                  </a:ext>
                </a:extLst>
              </a:tr>
              <a:tr h="1074381">
                <a:tc>
                  <a:txBody>
                    <a:bodyPr/>
                    <a:lstStyle/>
                    <a:p>
                      <a:pPr marL="377825" marR="0" lvl="1" indent="0" algn="ctr" defTabSz="914400" rtl="0" eaLnBrk="1" fontAlgn="auto" latinLnBrk="0" hangingPunct="1">
                        <a:lnSpc>
                          <a:spcPts val="6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dispersion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I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Mostly use only 1 seed</a:t>
                      </a:r>
                      <a:endParaRPr lang="en-US" sz="28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FI" sz="28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seeds for training, 3 for evaluation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685890"/>
                  </a:ext>
                </a:extLst>
              </a:tr>
              <a:tr h="1301035">
                <a:tc>
                  <a:txBody>
                    <a:bodyPr/>
                    <a:lstStyle/>
                    <a:p>
                      <a:pPr marL="377825" marR="0" lvl="1" indent="0" algn="ctr" defTabSz="914400" rtl="0" eaLnBrk="1" fontAlgn="auto" latinLnBrk="0" hangingPunct="1">
                        <a:lnSpc>
                          <a:spcPts val="6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budget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Fixes </a:t>
                      </a:r>
                      <a:r>
                        <a:rPr lang="en-FI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 limit (d)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25</a:t>
                      </a:r>
                      <a:r>
                        <a:rPr lang="en-FI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only</a:t>
                      </a:r>
                      <a:endParaRPr lang="en-US" sz="28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28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cost limit d = 25 &amp; 15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effect read against how hard the constraint 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9434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E57D0D2-C6E5-E0ED-D89A-C56A2C44A30D}"/>
              </a:ext>
            </a:extLst>
          </p:cNvPr>
          <p:cNvSpPr txBox="1"/>
          <p:nvPr/>
        </p:nvSpPr>
        <p:spPr>
          <a:xfrm>
            <a:off x="17373600" y="95631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74665"/>
            <a:ext cx="3294436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53764" y="1945618"/>
            <a:ext cx="9486848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objectives of this thesis are</a:t>
            </a:r>
            <a:r>
              <a:rPr lang="en-FI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5106" y="2473161"/>
            <a:ext cx="13158093" cy="262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04902" lvl="2" indent="-323851">
              <a:lnSpc>
                <a:spcPct val="200000"/>
              </a:lnSpc>
              <a:buFont typeface="Arial"/>
              <a:buChar char="•"/>
            </a:pPr>
            <a:r>
              <a:rPr lang="en-FI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both the constrained and unconstrained agents</a:t>
            </a:r>
          </a:p>
          <a:p>
            <a:pPr marL="1104902" lvl="2" indent="-323851">
              <a:lnSpc>
                <a:spcPct val="200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Isolate the constraint as a cost critic with lambda as a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Lagrangian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multiplier</a:t>
            </a:r>
          </a:p>
          <a:p>
            <a:pPr marL="1104902" lvl="2" indent="-323851">
              <a:lnSpc>
                <a:spcPct val="200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different seeds both for training and evaluation</a:t>
            </a:r>
            <a:r>
              <a:rPr lang="en-FI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both</a:t>
            </a: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1CB17-73AE-ADC9-C627-40CEA3270BD8}"/>
              </a:ext>
            </a:extLst>
          </p:cNvPr>
          <p:cNvSpPr txBox="1"/>
          <p:nvPr/>
        </p:nvSpPr>
        <p:spPr>
          <a:xfrm>
            <a:off x="17373600" y="95631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A5A1-CBA8-AEFF-A806-5FEACA4E0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5ECA22-9EE2-262C-1AF8-AA73463865CF}"/>
              </a:ext>
            </a:extLst>
          </p:cNvPr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7693CE5-044F-02C5-77A7-3F2DFCE05D94}"/>
              </a:ext>
            </a:extLst>
          </p:cNvPr>
          <p:cNvGrpSpPr/>
          <p:nvPr/>
        </p:nvGrpSpPr>
        <p:grpSpPr>
          <a:xfrm>
            <a:off x="6831674" y="4615647"/>
            <a:ext cx="7313452" cy="523220"/>
            <a:chOff x="5532377" y="1858833"/>
            <a:chExt cx="45354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619673-3911-FF1D-C126-11E7EB45B5F3}"/>
                </a:ext>
              </a:extLst>
            </p:cNvPr>
            <p:cNvSpPr txBox="1"/>
            <p:nvPr/>
          </p:nvSpPr>
          <p:spPr>
            <a:xfrm>
              <a:off x="5532377" y="1858833"/>
              <a:ext cx="2433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66C6BC-4D51-5663-E8A4-534B64F69052}"/>
                </a:ext>
              </a:extLst>
            </p:cNvPr>
            <p:cNvSpPr txBox="1"/>
            <p:nvPr/>
          </p:nvSpPr>
          <p:spPr>
            <a:xfrm>
              <a:off x="7696200" y="1858833"/>
              <a:ext cx="23716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C9D6DD0-53B9-0C12-F5CF-FB6119A7C30B}"/>
              </a:ext>
            </a:extLst>
          </p:cNvPr>
          <p:cNvGrpSpPr/>
          <p:nvPr/>
        </p:nvGrpSpPr>
        <p:grpSpPr>
          <a:xfrm>
            <a:off x="1267953" y="3586974"/>
            <a:ext cx="15752094" cy="2318525"/>
            <a:chOff x="1173946" y="2857500"/>
            <a:chExt cx="15752094" cy="1295400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B91CA6BA-2AB5-7E0B-2409-46DF141FED7B}"/>
                </a:ext>
              </a:extLst>
            </p:cNvPr>
            <p:cNvSpPr/>
            <p:nvPr/>
          </p:nvSpPr>
          <p:spPr>
            <a:xfrm>
              <a:off x="4292987" y="3181350"/>
              <a:ext cx="721697" cy="64770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B9C46F7-FF0C-5D50-06DC-39A131EAB278}"/>
                </a:ext>
              </a:extLst>
            </p:cNvPr>
            <p:cNvGrpSpPr/>
            <p:nvPr/>
          </p:nvGrpSpPr>
          <p:grpSpPr>
            <a:xfrm>
              <a:off x="1173946" y="2857500"/>
              <a:ext cx="15752094" cy="1295400"/>
              <a:chOff x="1173946" y="2857500"/>
              <a:chExt cx="15752094" cy="12954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910E48A-7CA2-F652-DB10-E72F52BED827}"/>
                  </a:ext>
                </a:extLst>
              </p:cNvPr>
              <p:cNvSpPr/>
              <p:nvPr/>
            </p:nvSpPr>
            <p:spPr>
              <a:xfrm>
                <a:off x="1173946" y="2857500"/>
                <a:ext cx="2636054" cy="12954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Setup</a:t>
                </a:r>
                <a:endParaRPr lang="en-GB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DCDFAC67-EC41-CB4F-1142-B7726FD5F8EE}"/>
                  </a:ext>
                </a:extLst>
              </p:cNvPr>
              <p:cNvSpPr/>
              <p:nvPr/>
            </p:nvSpPr>
            <p:spPr>
              <a:xfrm>
                <a:off x="5497673" y="2857500"/>
                <a:ext cx="2636054" cy="1295400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Safety Cost</a:t>
                </a:r>
                <a:endParaRPr lang="en-GB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0DC7B1E-FABF-5F59-8E1B-5AB9BC524FFD}"/>
                  </a:ext>
                </a:extLst>
              </p:cNvPr>
              <p:cNvSpPr/>
              <p:nvPr/>
            </p:nvSpPr>
            <p:spPr>
              <a:xfrm>
                <a:off x="14145125" y="2857500"/>
                <a:ext cx="2780915" cy="129540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  <a:r>
                  <a:rPr lang="en-FI" sz="2400" b="1" dirty="0">
                    <a:solidFill>
                      <a:schemeClr val="tx1"/>
                    </a:solidFill>
                  </a:rPr>
                  <a:t> </a:t>
                </a:r>
                <a:endParaRPr lang="en-GB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D34073F0-F994-0FE8-1FC4-B3CB0C9EFCFE}"/>
                  </a:ext>
                </a:extLst>
              </p:cNvPr>
              <p:cNvSpPr/>
              <p:nvPr/>
            </p:nvSpPr>
            <p:spPr>
              <a:xfrm>
                <a:off x="9821399" y="2857500"/>
                <a:ext cx="2636054" cy="129540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Arms</a:t>
                </a:r>
                <a:endParaRPr lang="en-GB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EC9147D9-A202-7646-EE72-D0D1B5900098}"/>
                  </a:ext>
                </a:extLst>
              </p:cNvPr>
              <p:cNvSpPr/>
              <p:nvPr/>
            </p:nvSpPr>
            <p:spPr>
              <a:xfrm>
                <a:off x="8610980" y="3181350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0792799B-5458-948D-B9FE-45721DA7DE6B}"/>
                  </a:ext>
                </a:extLst>
              </p:cNvPr>
              <p:cNvSpPr/>
              <p:nvPr/>
            </p:nvSpPr>
            <p:spPr>
              <a:xfrm>
                <a:off x="12957160" y="3137137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35FDB39-C5DE-2BD7-9D13-24E8C9C29946}"/>
              </a:ext>
            </a:extLst>
          </p:cNvPr>
          <p:cNvSpPr txBox="1"/>
          <p:nvPr/>
        </p:nvSpPr>
        <p:spPr>
          <a:xfrm>
            <a:off x="17373600" y="95631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648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E52A26-521B-FEF4-F8FC-40938CDE941E}"/>
              </a:ext>
            </a:extLst>
          </p:cNvPr>
          <p:cNvGrpSpPr/>
          <p:nvPr/>
        </p:nvGrpSpPr>
        <p:grpSpPr>
          <a:xfrm>
            <a:off x="6831674" y="4615647"/>
            <a:ext cx="7313452" cy="523220"/>
            <a:chOff x="5532377" y="1858833"/>
            <a:chExt cx="45354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976AEA5-3E8B-92E9-53CE-410F4DED583C}"/>
                </a:ext>
              </a:extLst>
            </p:cNvPr>
            <p:cNvSpPr txBox="1"/>
            <p:nvPr/>
          </p:nvSpPr>
          <p:spPr>
            <a:xfrm>
              <a:off x="5532377" y="1858833"/>
              <a:ext cx="2433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52BEA9-8B72-B159-4DFB-047402CC31C0}"/>
                </a:ext>
              </a:extLst>
            </p:cNvPr>
            <p:cNvSpPr txBox="1"/>
            <p:nvPr/>
          </p:nvSpPr>
          <p:spPr>
            <a:xfrm>
              <a:off x="7696200" y="1858833"/>
              <a:ext cx="23716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C6FA3A6-AC73-3388-84ED-0DE6A49B5BEE}"/>
              </a:ext>
            </a:extLst>
          </p:cNvPr>
          <p:cNvGrpSpPr/>
          <p:nvPr/>
        </p:nvGrpSpPr>
        <p:grpSpPr>
          <a:xfrm>
            <a:off x="1267953" y="2019300"/>
            <a:ext cx="15752094" cy="1219200"/>
            <a:chOff x="1173946" y="2857500"/>
            <a:chExt cx="15752094" cy="1295400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7CCF4E1A-E97A-60C0-7213-6AD1E1A4FD75}"/>
                </a:ext>
              </a:extLst>
            </p:cNvPr>
            <p:cNvSpPr/>
            <p:nvPr/>
          </p:nvSpPr>
          <p:spPr>
            <a:xfrm>
              <a:off x="4292987" y="3181350"/>
              <a:ext cx="721697" cy="64770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EFB5B56-8732-744E-3CE1-6BD731E06FDC}"/>
                </a:ext>
              </a:extLst>
            </p:cNvPr>
            <p:cNvGrpSpPr/>
            <p:nvPr/>
          </p:nvGrpSpPr>
          <p:grpSpPr>
            <a:xfrm>
              <a:off x="1173946" y="2857500"/>
              <a:ext cx="15752094" cy="1295400"/>
              <a:chOff x="1173946" y="2857500"/>
              <a:chExt cx="15752094" cy="12954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48F0C52C-6300-00A9-7BFB-8218599C16EA}"/>
                  </a:ext>
                </a:extLst>
              </p:cNvPr>
              <p:cNvSpPr/>
              <p:nvPr/>
            </p:nvSpPr>
            <p:spPr>
              <a:xfrm>
                <a:off x="1173946" y="2857500"/>
                <a:ext cx="2636054" cy="12954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Setup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48CC6AD-2B39-CBC1-C2EB-65B5F854440D}"/>
                  </a:ext>
                </a:extLst>
              </p:cNvPr>
              <p:cNvSpPr/>
              <p:nvPr/>
            </p:nvSpPr>
            <p:spPr>
              <a:xfrm>
                <a:off x="5497673" y="2857500"/>
                <a:ext cx="2636054" cy="1295400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Safety Cost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10A801C2-21C8-6B6B-2C11-5CD91BE89112}"/>
                  </a:ext>
                </a:extLst>
              </p:cNvPr>
              <p:cNvSpPr/>
              <p:nvPr/>
            </p:nvSpPr>
            <p:spPr>
              <a:xfrm>
                <a:off x="14145125" y="2857500"/>
                <a:ext cx="2780915" cy="129540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  <a:r>
                  <a:rPr lang="en-FI" sz="2400" b="1" dirty="0">
                    <a:solidFill>
                      <a:schemeClr val="tx1"/>
                    </a:solidFill>
                  </a:rPr>
                  <a:t> </a:t>
                </a:r>
                <a:endParaRPr lang="en-GB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DFB8B6E2-2BFA-5299-28EE-3AB496A1C4C3}"/>
                  </a:ext>
                </a:extLst>
              </p:cNvPr>
              <p:cNvSpPr/>
              <p:nvPr/>
            </p:nvSpPr>
            <p:spPr>
              <a:xfrm>
                <a:off x="9821399" y="2857500"/>
                <a:ext cx="2636054" cy="129540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Arms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03BD6F78-0988-EAF6-4ED7-10C87463528D}"/>
                  </a:ext>
                </a:extLst>
              </p:cNvPr>
              <p:cNvSpPr/>
              <p:nvPr/>
            </p:nvSpPr>
            <p:spPr>
              <a:xfrm>
                <a:off x="8610980" y="3181350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3170DA6B-CFF3-3127-E034-B29A3E1DEFA4}"/>
                  </a:ext>
                </a:extLst>
              </p:cNvPr>
              <p:cNvSpPr/>
              <p:nvPr/>
            </p:nvSpPr>
            <p:spPr>
              <a:xfrm>
                <a:off x="12957160" y="3137137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7AEEA6C-4CD9-88BF-CC25-CA907A2E3F20}"/>
              </a:ext>
            </a:extLst>
          </p:cNvPr>
          <p:cNvSpPr txBox="1"/>
          <p:nvPr/>
        </p:nvSpPr>
        <p:spPr>
          <a:xfrm>
            <a:off x="3655651" y="4242644"/>
            <a:ext cx="51142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NVIDIA </a:t>
            </a:r>
            <a:r>
              <a:rPr lang="en-FI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IsaacSim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5.0.0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FI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IsaacLab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2.3.1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FI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rsl_rl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weld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5E727-06D0-AE12-128A-72E9F890F6A5}"/>
              </a:ext>
            </a:extLst>
          </p:cNvPr>
          <p:cNvSpPr txBox="1"/>
          <p:nvPr/>
        </p:nvSpPr>
        <p:spPr>
          <a:xfrm>
            <a:off x="8743139" y="4242644"/>
            <a:ext cx="69528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 robots for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1500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iterations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/>
              </a:rPr>
              <a:t>UR5e + </a:t>
            </a:r>
            <a:r>
              <a:rPr lang="en-GB" sz="3200" dirty="0" err="1">
                <a:latin typeface="Times New Roman"/>
              </a:rPr>
              <a:t>Robotiq</a:t>
            </a:r>
            <a:r>
              <a:rPr lang="en-GB" sz="3200" dirty="0">
                <a:latin typeface="Times New Roman"/>
              </a:rPr>
              <a:t> 2F-85 gripper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7B2427-D171-C765-2633-959E2F72CDC4}"/>
              </a:ext>
            </a:extLst>
          </p:cNvPr>
          <p:cNvSpPr/>
          <p:nvPr/>
        </p:nvSpPr>
        <p:spPr>
          <a:xfrm>
            <a:off x="1066800" y="1790700"/>
            <a:ext cx="3048000" cy="167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1C626-B51A-E77A-54E1-02795519BE0B}"/>
              </a:ext>
            </a:extLst>
          </p:cNvPr>
          <p:cNvSpPr txBox="1"/>
          <p:nvPr/>
        </p:nvSpPr>
        <p:spPr>
          <a:xfrm>
            <a:off x="17373600" y="95631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9629-DF0E-B701-4625-7FF713A7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EC50B51-938D-EBCA-DCF6-5390281DA778}"/>
              </a:ext>
            </a:extLst>
          </p:cNvPr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62DCFDA-8905-E8A0-31E0-1546084918C8}"/>
              </a:ext>
            </a:extLst>
          </p:cNvPr>
          <p:cNvGrpSpPr/>
          <p:nvPr/>
        </p:nvGrpSpPr>
        <p:grpSpPr>
          <a:xfrm>
            <a:off x="6831674" y="4615647"/>
            <a:ext cx="7313452" cy="523220"/>
            <a:chOff x="5532377" y="1858833"/>
            <a:chExt cx="45354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A5125A-3AA6-7A9C-2336-B738F977857E}"/>
                </a:ext>
              </a:extLst>
            </p:cNvPr>
            <p:cNvSpPr txBox="1"/>
            <p:nvPr/>
          </p:nvSpPr>
          <p:spPr>
            <a:xfrm>
              <a:off x="5532377" y="1858833"/>
              <a:ext cx="2433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C19B77-7543-9C02-F050-26E2442E5930}"/>
                </a:ext>
              </a:extLst>
            </p:cNvPr>
            <p:cNvSpPr txBox="1"/>
            <p:nvPr/>
          </p:nvSpPr>
          <p:spPr>
            <a:xfrm>
              <a:off x="7696200" y="1858833"/>
              <a:ext cx="23716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B8E0E5F-4D4E-8771-1A84-A3F40B86CD13}"/>
              </a:ext>
            </a:extLst>
          </p:cNvPr>
          <p:cNvGrpSpPr/>
          <p:nvPr/>
        </p:nvGrpSpPr>
        <p:grpSpPr>
          <a:xfrm>
            <a:off x="1267953" y="2019300"/>
            <a:ext cx="15752094" cy="1295400"/>
            <a:chOff x="1173946" y="2857500"/>
            <a:chExt cx="15752094" cy="1295400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24593304-64A9-5DC9-6E17-576EB97BFD6A}"/>
                </a:ext>
              </a:extLst>
            </p:cNvPr>
            <p:cNvSpPr/>
            <p:nvPr/>
          </p:nvSpPr>
          <p:spPr>
            <a:xfrm>
              <a:off x="4292987" y="3181350"/>
              <a:ext cx="721697" cy="64770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B587713-D94E-D962-9060-C1DF7DA85C7F}"/>
                </a:ext>
              </a:extLst>
            </p:cNvPr>
            <p:cNvGrpSpPr/>
            <p:nvPr/>
          </p:nvGrpSpPr>
          <p:grpSpPr>
            <a:xfrm>
              <a:off x="1173946" y="2857500"/>
              <a:ext cx="15752094" cy="1295400"/>
              <a:chOff x="1173946" y="2857500"/>
              <a:chExt cx="15752094" cy="12954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5179C15-E452-BC44-9177-DADE58BC6727}"/>
                  </a:ext>
                </a:extLst>
              </p:cNvPr>
              <p:cNvSpPr/>
              <p:nvPr/>
            </p:nvSpPr>
            <p:spPr>
              <a:xfrm>
                <a:off x="1173946" y="2857500"/>
                <a:ext cx="2636054" cy="12954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Setup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2D4B761A-7E7D-D498-F0B4-DD8A9B8F4DCC}"/>
                  </a:ext>
                </a:extLst>
              </p:cNvPr>
              <p:cNvSpPr/>
              <p:nvPr/>
            </p:nvSpPr>
            <p:spPr>
              <a:xfrm>
                <a:off x="5497673" y="2857500"/>
                <a:ext cx="2636054" cy="1295400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Safety Cost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04BFE9B0-7B3E-8930-2BE7-E06454635A69}"/>
                  </a:ext>
                </a:extLst>
              </p:cNvPr>
              <p:cNvSpPr/>
              <p:nvPr/>
            </p:nvSpPr>
            <p:spPr>
              <a:xfrm>
                <a:off x="14145125" y="2857500"/>
                <a:ext cx="2780915" cy="129540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  <a:r>
                  <a:rPr lang="en-FI" sz="2400" b="1" dirty="0">
                    <a:solidFill>
                      <a:schemeClr val="tx1"/>
                    </a:solidFill>
                  </a:rPr>
                  <a:t> </a:t>
                </a:r>
                <a:endParaRPr lang="en-GB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CA605747-07A5-F8C8-0E8C-425EBDDEC64D}"/>
                  </a:ext>
                </a:extLst>
              </p:cNvPr>
              <p:cNvSpPr/>
              <p:nvPr/>
            </p:nvSpPr>
            <p:spPr>
              <a:xfrm>
                <a:off x="9821399" y="2857500"/>
                <a:ext cx="2636054" cy="129540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Arms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DE25D286-3777-D4D9-B467-97CEBC1BF3D1}"/>
                  </a:ext>
                </a:extLst>
              </p:cNvPr>
              <p:cNvSpPr/>
              <p:nvPr/>
            </p:nvSpPr>
            <p:spPr>
              <a:xfrm>
                <a:off x="8610980" y="3181350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474D1B28-0E6C-E451-5649-5CA4E0807693}"/>
                  </a:ext>
                </a:extLst>
              </p:cNvPr>
              <p:cNvSpPr/>
              <p:nvPr/>
            </p:nvSpPr>
            <p:spPr>
              <a:xfrm>
                <a:off x="12957160" y="3137137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0B2059B-8D05-34C7-DD04-08326341D3F6}"/>
              </a:ext>
            </a:extLst>
          </p:cNvPr>
          <p:cNvSpPr/>
          <p:nvPr/>
        </p:nvSpPr>
        <p:spPr>
          <a:xfrm>
            <a:off x="14097000" y="1711747"/>
            <a:ext cx="3048000" cy="1831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79A18-5ED4-9B27-606B-C533B2B511F6}"/>
              </a:ext>
            </a:extLst>
          </p:cNvPr>
          <p:cNvSpPr txBox="1"/>
          <p:nvPr/>
        </p:nvSpPr>
        <p:spPr>
          <a:xfrm>
            <a:off x="3274147" y="4076700"/>
            <a:ext cx="647945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robots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episodes per arm, </a:t>
            </a:r>
          </a:p>
          <a:p>
            <a:pPr lvl="1">
              <a:lnSpc>
                <a:spcPct val="200000"/>
              </a:lnSpc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lang="en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45,000 episodes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b="1" dirty="0">
                <a:latin typeface="Times New Roman"/>
                <a:cs typeface="Times New Roman" panose="02020603050405020304" pitchFamily="18" charset="0"/>
              </a:rPr>
              <a:t>3</a:t>
            </a:r>
            <a:r>
              <a:rPr lang="en-FI" sz="3200" dirty="0">
                <a:latin typeface="Times New Roman"/>
                <a:cs typeface="Times New Roman" panose="02020603050405020304" pitchFamily="18" charset="0"/>
              </a:rPr>
              <a:t> different seeds</a:t>
            </a: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BBCB0-F945-4E2A-BB10-7DB62250E3EE}"/>
              </a:ext>
            </a:extLst>
          </p:cNvPr>
          <p:cNvSpPr txBox="1"/>
          <p:nvPr/>
        </p:nvSpPr>
        <p:spPr>
          <a:xfrm>
            <a:off x="9393245" y="4085478"/>
            <a:ext cx="6989755" cy="3450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§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keep-out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 above table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Joint-limit margin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0.175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 (10°)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Singularity floor  w = √det(JJᵀ)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     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707A2-A62F-37F3-B8E3-99F7D3C9866A}"/>
              </a:ext>
            </a:extLst>
          </p:cNvPr>
          <p:cNvSpPr txBox="1"/>
          <p:nvPr/>
        </p:nvSpPr>
        <p:spPr>
          <a:xfrm>
            <a:off x="17373600" y="95631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17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DECE7-96E7-F847-6742-6C7D71EBE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25103C8-BF22-41B6-86FF-517D2CB7E653}"/>
              </a:ext>
            </a:extLst>
          </p:cNvPr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0BBEB8-EEF4-16D4-42B5-A598A9F12E6B}"/>
              </a:ext>
            </a:extLst>
          </p:cNvPr>
          <p:cNvGrpSpPr/>
          <p:nvPr/>
        </p:nvGrpSpPr>
        <p:grpSpPr>
          <a:xfrm>
            <a:off x="1267953" y="2019300"/>
            <a:ext cx="15752094" cy="1295400"/>
            <a:chOff x="1173946" y="2857500"/>
            <a:chExt cx="15752094" cy="1295400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6D76A05C-2C76-1089-120B-32C5E3167AD5}"/>
                </a:ext>
              </a:extLst>
            </p:cNvPr>
            <p:cNvSpPr/>
            <p:nvPr/>
          </p:nvSpPr>
          <p:spPr>
            <a:xfrm>
              <a:off x="4292987" y="3181350"/>
              <a:ext cx="721697" cy="64770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1954D66-6D18-665A-6B0E-67A3F3762767}"/>
                </a:ext>
              </a:extLst>
            </p:cNvPr>
            <p:cNvGrpSpPr/>
            <p:nvPr/>
          </p:nvGrpSpPr>
          <p:grpSpPr>
            <a:xfrm>
              <a:off x="1173946" y="2857500"/>
              <a:ext cx="15752094" cy="1295400"/>
              <a:chOff x="1173946" y="2857500"/>
              <a:chExt cx="15752094" cy="12954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DA429AC6-5E5E-2968-C18C-7EC1A05B9D5A}"/>
                  </a:ext>
                </a:extLst>
              </p:cNvPr>
              <p:cNvSpPr/>
              <p:nvPr/>
            </p:nvSpPr>
            <p:spPr>
              <a:xfrm>
                <a:off x="1173946" y="2857500"/>
                <a:ext cx="2636054" cy="12954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Setup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926AD9A-B080-19F7-9CF0-279FAA6CB4CE}"/>
                  </a:ext>
                </a:extLst>
              </p:cNvPr>
              <p:cNvSpPr/>
              <p:nvPr/>
            </p:nvSpPr>
            <p:spPr>
              <a:xfrm>
                <a:off x="5497673" y="2857500"/>
                <a:ext cx="2636054" cy="1295400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Safety Cost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3106749C-75BF-D639-B188-0DA5E70E9335}"/>
                  </a:ext>
                </a:extLst>
              </p:cNvPr>
              <p:cNvSpPr/>
              <p:nvPr/>
            </p:nvSpPr>
            <p:spPr>
              <a:xfrm>
                <a:off x="14145125" y="2857500"/>
                <a:ext cx="2780915" cy="129540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  <a:r>
                  <a:rPr lang="en-FI" sz="2400" b="1" dirty="0">
                    <a:solidFill>
                      <a:schemeClr val="tx1"/>
                    </a:solidFill>
                  </a:rPr>
                  <a:t> </a:t>
                </a:r>
                <a:endParaRPr lang="en-GB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D38AC2E5-DCD1-88C0-1926-AFA955933DDB}"/>
                  </a:ext>
                </a:extLst>
              </p:cNvPr>
              <p:cNvSpPr/>
              <p:nvPr/>
            </p:nvSpPr>
            <p:spPr>
              <a:xfrm>
                <a:off x="9821399" y="2857500"/>
                <a:ext cx="2636054" cy="129540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Arms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2752135B-9498-22FC-971D-0DC11933675B}"/>
                  </a:ext>
                </a:extLst>
              </p:cNvPr>
              <p:cNvSpPr/>
              <p:nvPr/>
            </p:nvSpPr>
            <p:spPr>
              <a:xfrm>
                <a:off x="8610980" y="3181350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5F634524-A969-3CC2-4B18-864DE7037E3D}"/>
                  </a:ext>
                </a:extLst>
              </p:cNvPr>
              <p:cNvSpPr/>
              <p:nvPr/>
            </p:nvSpPr>
            <p:spPr>
              <a:xfrm>
                <a:off x="12957160" y="3137137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48E54A0-3C8D-4256-94D1-4C971C130021}"/>
              </a:ext>
            </a:extLst>
          </p:cNvPr>
          <p:cNvSpPr/>
          <p:nvPr/>
        </p:nvSpPr>
        <p:spPr>
          <a:xfrm>
            <a:off x="5395907" y="1711747"/>
            <a:ext cx="3048000" cy="1905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35FA145-3127-0A4D-D82E-A153D461705F}"/>
              </a:ext>
            </a:extLst>
          </p:cNvPr>
          <p:cNvGrpSpPr/>
          <p:nvPr/>
        </p:nvGrpSpPr>
        <p:grpSpPr>
          <a:xfrm>
            <a:off x="1267953" y="4128154"/>
            <a:ext cx="15877046" cy="5084200"/>
            <a:chOff x="1171463" y="4333072"/>
            <a:chExt cx="16484268" cy="5084200"/>
          </a:xfrm>
        </p:grpSpPr>
        <p:sp>
          <p:nvSpPr>
            <p:cNvPr id="37" name="Rounded Rectangle 3">
              <a:extLst>
                <a:ext uri="{FF2B5EF4-FFF2-40B4-BE49-F238E27FC236}">
                  <a16:creationId xmlns:a16="http://schemas.microsoft.com/office/drawing/2014/main" id="{2A586DE9-9E9D-026B-70A4-0FA2868C6D57}"/>
                </a:ext>
              </a:extLst>
            </p:cNvPr>
            <p:cNvSpPr/>
            <p:nvPr/>
          </p:nvSpPr>
          <p:spPr>
            <a:xfrm>
              <a:off x="1171463" y="4333072"/>
              <a:ext cx="4748661" cy="1191428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54864" rIns="128016" bIns="54864" rtlCol="0" anchor="ctr"/>
            <a:lstStyle/>
            <a:p>
              <a:pPr algn="ctr"/>
              <a:r>
                <a:rPr sz="3200" b="1" dirty="0">
                  <a:solidFill>
                    <a:schemeClr val="tx1"/>
                  </a:solidFill>
                  <a:latin typeface="Times New Roman"/>
                </a:rPr>
                <a:t>Manipulability floor</a:t>
              </a:r>
            </a:p>
            <a:p>
              <a:pPr algn="ctr"/>
              <a:r>
                <a:rPr sz="2400" b="0" dirty="0">
                  <a:solidFill>
                    <a:schemeClr val="tx1"/>
                  </a:solidFill>
                  <a:latin typeface="Times New Roman"/>
                </a:rPr>
                <a:t>w = √det(JJᵀ)  below 0.06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6DFDB16-1706-7CED-61CE-0CC6A9A70885}"/>
                </a:ext>
              </a:extLst>
            </p:cNvPr>
            <p:cNvGrpSpPr/>
            <p:nvPr/>
          </p:nvGrpSpPr>
          <p:grpSpPr>
            <a:xfrm>
              <a:off x="1171463" y="4772026"/>
              <a:ext cx="16484268" cy="4645246"/>
              <a:chOff x="1171463" y="4772026"/>
              <a:chExt cx="16812869" cy="4645246"/>
            </a:xfrm>
          </p:grpSpPr>
          <p:sp>
            <p:nvSpPr>
              <p:cNvPr id="39" name="Rounded Rectangle 4">
                <a:extLst>
                  <a:ext uri="{FF2B5EF4-FFF2-40B4-BE49-F238E27FC236}">
                    <a16:creationId xmlns:a16="http://schemas.microsoft.com/office/drawing/2014/main" id="{80209C48-5E03-2EB8-EA0A-B46A5027791B}"/>
                  </a:ext>
                </a:extLst>
              </p:cNvPr>
              <p:cNvSpPr/>
              <p:nvPr/>
            </p:nvSpPr>
            <p:spPr>
              <a:xfrm>
                <a:off x="1173946" y="6279458"/>
                <a:ext cx="4845854" cy="1191428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587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54864" rIns="128016" bIns="54864" rtlCol="0" anchor="ctr"/>
              <a:lstStyle/>
              <a:p>
                <a:pPr algn="ctr"/>
                <a:r>
                  <a:rPr sz="3200" b="1" dirty="0">
                    <a:solidFill>
                      <a:schemeClr val="tx1"/>
                    </a:solidFill>
                    <a:latin typeface="Times New Roman"/>
                  </a:rPr>
                  <a:t>Joint-limit margin</a:t>
                </a:r>
              </a:p>
              <a:p>
                <a:pPr algn="ctr"/>
                <a:r>
                  <a:rPr sz="2400" b="0" dirty="0">
                    <a:solidFill>
                      <a:schemeClr val="tx1"/>
                    </a:solidFill>
                    <a:latin typeface="Times New Roman"/>
                  </a:rPr>
                  <a:t>clearance under 0.175 rad</a:t>
                </a:r>
              </a:p>
            </p:txBody>
          </p:sp>
          <p:sp>
            <p:nvSpPr>
              <p:cNvPr id="41" name="Rounded Rectangle 5">
                <a:extLst>
                  <a:ext uri="{FF2B5EF4-FFF2-40B4-BE49-F238E27FC236}">
                    <a16:creationId xmlns:a16="http://schemas.microsoft.com/office/drawing/2014/main" id="{93486293-BAAE-062A-2E58-25395736AC2E}"/>
                  </a:ext>
                </a:extLst>
              </p:cNvPr>
              <p:cNvSpPr/>
              <p:nvPr/>
            </p:nvSpPr>
            <p:spPr>
              <a:xfrm>
                <a:off x="1171463" y="8225844"/>
                <a:ext cx="4845854" cy="1191428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5875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54864" rIns="128016" bIns="54864" rtlCol="0" anchor="ctr"/>
              <a:lstStyle/>
              <a:p>
                <a:pPr algn="ctr"/>
                <a:r>
                  <a:rPr sz="2400" b="1" dirty="0">
                    <a:solidFill>
                      <a:schemeClr val="tx1"/>
                    </a:solidFill>
                    <a:latin typeface="Times New Roman"/>
                  </a:rPr>
                  <a:t>Collision keep-out</a:t>
                </a:r>
              </a:p>
              <a:p>
                <a:pPr algn="ctr"/>
                <a:r>
                  <a:rPr sz="2400" b="0" dirty="0">
                    <a:solidFill>
                      <a:schemeClr val="tx1"/>
                    </a:solidFill>
                    <a:latin typeface="Times New Roman"/>
                  </a:rPr>
                  <a:t>link below 0.05 m</a:t>
                </a:r>
              </a:p>
            </p:txBody>
          </p:sp>
          <p:cxnSp>
            <p:nvCxnSpPr>
              <p:cNvPr id="46" name="Connector 9">
                <a:extLst>
                  <a:ext uri="{FF2B5EF4-FFF2-40B4-BE49-F238E27FC236}">
                    <a16:creationId xmlns:a16="http://schemas.microsoft.com/office/drawing/2014/main" id="{314C70F3-22A7-BFED-9FB8-E4BFBD4C7842}"/>
                  </a:ext>
                </a:extLst>
              </p:cNvPr>
              <p:cNvCxnSpPr/>
              <p:nvPr/>
            </p:nvCxnSpPr>
            <p:spPr>
              <a:xfrm>
                <a:off x="6032500" y="4772026"/>
                <a:ext cx="1143000" cy="2057400"/>
              </a:xfrm>
              <a:prstGeom prst="bentConnector3">
                <a:avLst/>
              </a:prstGeom>
              <a:ln w="2222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ctor 10">
                <a:extLst>
                  <a:ext uri="{FF2B5EF4-FFF2-40B4-BE49-F238E27FC236}">
                    <a16:creationId xmlns:a16="http://schemas.microsoft.com/office/drawing/2014/main" id="{A4A8301D-E921-A6F7-CE4E-71B13F7F8936}"/>
                  </a:ext>
                </a:extLst>
              </p:cNvPr>
              <p:cNvCxnSpPr/>
              <p:nvPr/>
            </p:nvCxnSpPr>
            <p:spPr>
              <a:xfrm flipV="1">
                <a:off x="6032500" y="6829426"/>
                <a:ext cx="1143000" cy="0"/>
              </a:xfrm>
              <a:prstGeom prst="bentConnector3">
                <a:avLst/>
              </a:prstGeom>
              <a:ln w="2222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or 11">
                <a:extLst>
                  <a:ext uri="{FF2B5EF4-FFF2-40B4-BE49-F238E27FC236}">
                    <a16:creationId xmlns:a16="http://schemas.microsoft.com/office/drawing/2014/main" id="{B5104F4D-7293-4F05-2524-2BCFE4E231AE}"/>
                  </a:ext>
                </a:extLst>
              </p:cNvPr>
              <p:cNvCxnSpPr/>
              <p:nvPr/>
            </p:nvCxnSpPr>
            <p:spPr>
              <a:xfrm flipV="1">
                <a:off x="6032500" y="6829426"/>
                <a:ext cx="1143000" cy="2057400"/>
              </a:xfrm>
              <a:prstGeom prst="bentConnector3">
                <a:avLst/>
              </a:prstGeom>
              <a:ln w="2222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Rounded Rectangle 6">
                <a:extLst>
                  <a:ext uri="{FF2B5EF4-FFF2-40B4-BE49-F238E27FC236}">
                    <a16:creationId xmlns:a16="http://schemas.microsoft.com/office/drawing/2014/main" id="{58B4A15D-1408-BC02-A3F4-DB283DA3AA33}"/>
                  </a:ext>
                </a:extLst>
              </p:cNvPr>
              <p:cNvSpPr/>
              <p:nvPr/>
            </p:nvSpPr>
            <p:spPr>
              <a:xfrm>
                <a:off x="7190683" y="6029326"/>
                <a:ext cx="3200400" cy="1600200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5875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54864" rIns="128016" bIns="54864" rtlCol="0" anchor="ctr"/>
              <a:lstStyle/>
              <a:p>
                <a:pPr algn="ctr"/>
                <a:r>
                  <a:rPr sz="2800" b="1" dirty="0">
                    <a:solidFill>
                      <a:schemeClr val="tx1"/>
                    </a:solidFill>
                    <a:latin typeface="Times New Roman"/>
                  </a:rPr>
                  <a:t>Aggregate cost</a:t>
                </a:r>
              </a:p>
              <a:p>
                <a:pPr algn="ctr"/>
                <a:r>
                  <a:rPr sz="2000" b="0" dirty="0">
                    <a:solidFill>
                      <a:schemeClr val="tx1"/>
                    </a:solidFill>
                    <a:latin typeface="Times New Roman"/>
                  </a:rPr>
                  <a:t>c = sum of the three</a:t>
                </a:r>
              </a:p>
              <a:p>
                <a:pPr algn="ctr"/>
                <a:r>
                  <a:rPr b="0" dirty="0">
                    <a:solidFill>
                      <a:schemeClr val="tx1"/>
                    </a:solidFill>
                    <a:latin typeface="Times New Roman"/>
                  </a:rPr>
                  <a:t>one λ governs all</a:t>
                </a:r>
              </a:p>
            </p:txBody>
          </p:sp>
          <p:sp>
            <p:nvSpPr>
              <p:cNvPr id="50" name="Rounded Rectangle 7">
                <a:extLst>
                  <a:ext uri="{FF2B5EF4-FFF2-40B4-BE49-F238E27FC236}">
                    <a16:creationId xmlns:a16="http://schemas.microsoft.com/office/drawing/2014/main" id="{A2DD266C-AA7F-9414-3616-BFE1A8445320}"/>
                  </a:ext>
                </a:extLst>
              </p:cNvPr>
              <p:cNvSpPr/>
              <p:nvPr/>
            </p:nvSpPr>
            <p:spPr>
              <a:xfrm>
                <a:off x="11396923" y="6029326"/>
                <a:ext cx="3017520" cy="1600200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5875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54864" rIns="128016" bIns="54864" rtlCol="0" anchor="ctr"/>
              <a:lstStyle/>
              <a:p>
                <a:pPr algn="ctr"/>
                <a:r>
                  <a:rPr sz="2800" b="1" dirty="0">
                    <a:solidFill>
                      <a:schemeClr val="tx1"/>
                    </a:solidFill>
                    <a:latin typeface="Times New Roman"/>
                  </a:rPr>
                  <a:t>Episodic cost</a:t>
                </a:r>
              </a:p>
              <a:p>
                <a:pPr algn="ctr"/>
                <a:r>
                  <a:rPr sz="2000" b="0" dirty="0">
                    <a:solidFill>
                      <a:schemeClr val="tx1"/>
                    </a:solidFill>
                    <a:latin typeface="Times New Roman"/>
                  </a:rPr>
                  <a:t>undiscounted sum</a:t>
                </a:r>
              </a:p>
              <a:p>
                <a:pPr algn="ctr"/>
                <a:r>
                  <a:rPr b="0" dirty="0">
                    <a:solidFill>
                      <a:schemeClr val="tx1"/>
                    </a:solidFill>
                    <a:latin typeface="Times New Roman"/>
                  </a:rPr>
                  <a:t>over 250 steps</a:t>
                </a:r>
              </a:p>
            </p:txBody>
          </p:sp>
          <p:sp>
            <p:nvSpPr>
              <p:cNvPr id="51" name="Rounded Rectangle 8">
                <a:extLst>
                  <a:ext uri="{FF2B5EF4-FFF2-40B4-BE49-F238E27FC236}">
                    <a16:creationId xmlns:a16="http://schemas.microsoft.com/office/drawing/2014/main" id="{6E2C77B0-5827-8546-8EE7-99E1125FC651}"/>
                  </a:ext>
                </a:extLst>
              </p:cNvPr>
              <p:cNvSpPr/>
              <p:nvPr/>
            </p:nvSpPr>
            <p:spPr>
              <a:xfrm>
                <a:off x="15420281" y="6029326"/>
                <a:ext cx="2564051" cy="1600200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5875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54864" rIns="128016" bIns="54864" rtlCol="0" anchor="ctr"/>
              <a:lstStyle/>
              <a:p>
                <a:pPr algn="ctr"/>
                <a:r>
                  <a:rPr sz="2800" b="1" dirty="0">
                    <a:solidFill>
                      <a:schemeClr val="tx1"/>
                    </a:solidFill>
                    <a:latin typeface="Times New Roman"/>
                  </a:rPr>
                  <a:t>Budget</a:t>
                </a:r>
              </a:p>
              <a:p>
                <a:pPr algn="ctr"/>
                <a:r>
                  <a:rPr sz="2400" dirty="0">
                    <a:solidFill>
                      <a:schemeClr val="tx1"/>
                    </a:solidFill>
                    <a:latin typeface="Times New Roman"/>
                  </a:rPr>
                  <a:t>d = 25</a:t>
                </a:r>
              </a:p>
              <a:p>
                <a:pPr algn="ctr"/>
                <a:r>
                  <a:rPr sz="2400" dirty="0">
                    <a:solidFill>
                      <a:schemeClr val="tx1"/>
                    </a:solidFill>
                    <a:latin typeface="Times New Roman"/>
                  </a:rPr>
                  <a:t>or d = 15</a:t>
                </a:r>
              </a:p>
            </p:txBody>
          </p:sp>
          <p:cxnSp>
            <p:nvCxnSpPr>
              <p:cNvPr id="52" name="Connector 12">
                <a:extLst>
                  <a:ext uri="{FF2B5EF4-FFF2-40B4-BE49-F238E27FC236}">
                    <a16:creationId xmlns:a16="http://schemas.microsoft.com/office/drawing/2014/main" id="{6040B8B3-0235-1B43-B53A-3AA0F8A85578}"/>
                  </a:ext>
                </a:extLst>
              </p:cNvPr>
              <p:cNvCxnSpPr>
                <a:stCxn id="49" idx="3"/>
                <a:endCxn id="50" idx="1"/>
              </p:cNvCxnSpPr>
              <p:nvPr/>
            </p:nvCxnSpPr>
            <p:spPr>
              <a:xfrm>
                <a:off x="10391083" y="6829426"/>
                <a:ext cx="1005840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ctor 13">
                <a:extLst>
                  <a:ext uri="{FF2B5EF4-FFF2-40B4-BE49-F238E27FC236}">
                    <a16:creationId xmlns:a16="http://schemas.microsoft.com/office/drawing/2014/main" id="{385EFE4E-390A-769E-D18C-417A24137E3A}"/>
                  </a:ext>
                </a:extLst>
              </p:cNvPr>
              <p:cNvCxnSpPr>
                <a:cxnSpLocks/>
                <a:stCxn id="50" idx="3"/>
                <a:endCxn id="51" idx="1"/>
              </p:cNvCxnSpPr>
              <p:nvPr/>
            </p:nvCxnSpPr>
            <p:spPr>
              <a:xfrm>
                <a:off x="14414443" y="6829426"/>
                <a:ext cx="1005838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D01EB7-DFEA-3E18-4B7B-8217863F0E95}"/>
              </a:ext>
            </a:extLst>
          </p:cNvPr>
          <p:cNvSpPr txBox="1"/>
          <p:nvPr/>
        </p:nvSpPr>
        <p:spPr>
          <a:xfrm>
            <a:off x="17373600" y="95631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378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4B51-EB57-39CE-2148-D8AD3582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19E2C94-D3DA-820A-EECD-DF644EB51CC7}"/>
              </a:ext>
            </a:extLst>
          </p:cNvPr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0340BE6-FAA4-D3EA-EC13-99990C26E889}"/>
              </a:ext>
            </a:extLst>
          </p:cNvPr>
          <p:cNvGrpSpPr/>
          <p:nvPr/>
        </p:nvGrpSpPr>
        <p:grpSpPr>
          <a:xfrm>
            <a:off x="6831674" y="4615647"/>
            <a:ext cx="7313452" cy="523220"/>
            <a:chOff x="5532377" y="1858833"/>
            <a:chExt cx="45354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306C53-D861-80D6-FFC8-0E4BCBA15F67}"/>
                </a:ext>
              </a:extLst>
            </p:cNvPr>
            <p:cNvSpPr txBox="1"/>
            <p:nvPr/>
          </p:nvSpPr>
          <p:spPr>
            <a:xfrm>
              <a:off x="5532377" y="1858833"/>
              <a:ext cx="2433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56285EF-CD6B-DA86-7D3F-CCDEFAC375DC}"/>
                </a:ext>
              </a:extLst>
            </p:cNvPr>
            <p:cNvSpPr txBox="1"/>
            <p:nvPr/>
          </p:nvSpPr>
          <p:spPr>
            <a:xfrm>
              <a:off x="7696200" y="1858833"/>
              <a:ext cx="23716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4B8C5FA-BE99-99BA-9541-38526BF53EF2}"/>
              </a:ext>
            </a:extLst>
          </p:cNvPr>
          <p:cNvGrpSpPr/>
          <p:nvPr/>
        </p:nvGrpSpPr>
        <p:grpSpPr>
          <a:xfrm>
            <a:off x="1267953" y="2019300"/>
            <a:ext cx="15752094" cy="1295400"/>
            <a:chOff x="1173946" y="2857500"/>
            <a:chExt cx="15752094" cy="1295400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CB5A4C98-4899-EA83-B8C7-603D4FD29DA1}"/>
                </a:ext>
              </a:extLst>
            </p:cNvPr>
            <p:cNvSpPr/>
            <p:nvPr/>
          </p:nvSpPr>
          <p:spPr>
            <a:xfrm>
              <a:off x="4292987" y="3181350"/>
              <a:ext cx="721697" cy="64770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3066853-554F-E7EC-EE22-BE68B70CAA1B}"/>
                </a:ext>
              </a:extLst>
            </p:cNvPr>
            <p:cNvGrpSpPr/>
            <p:nvPr/>
          </p:nvGrpSpPr>
          <p:grpSpPr>
            <a:xfrm>
              <a:off x="1173946" y="2857500"/>
              <a:ext cx="15752094" cy="1295400"/>
              <a:chOff x="1173946" y="2857500"/>
              <a:chExt cx="15752094" cy="12954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AC384C0-644F-D05A-FFAC-05EC9D8EE7A3}"/>
                  </a:ext>
                </a:extLst>
              </p:cNvPr>
              <p:cNvSpPr/>
              <p:nvPr/>
            </p:nvSpPr>
            <p:spPr>
              <a:xfrm>
                <a:off x="1173946" y="2857500"/>
                <a:ext cx="2636054" cy="12954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Setup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2A580B2A-3803-B7E5-FDD4-664A2ED81385}"/>
                  </a:ext>
                </a:extLst>
              </p:cNvPr>
              <p:cNvSpPr/>
              <p:nvPr/>
            </p:nvSpPr>
            <p:spPr>
              <a:xfrm>
                <a:off x="5497673" y="2857500"/>
                <a:ext cx="2636054" cy="1295400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Safety Cost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4746BBC-9ED0-C88F-439E-CA5E5411CD84}"/>
                  </a:ext>
                </a:extLst>
              </p:cNvPr>
              <p:cNvSpPr/>
              <p:nvPr/>
            </p:nvSpPr>
            <p:spPr>
              <a:xfrm>
                <a:off x="14145125" y="2857500"/>
                <a:ext cx="2780915" cy="129540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  <a:r>
                  <a:rPr lang="en-FI" sz="2400" b="1" dirty="0">
                    <a:solidFill>
                      <a:schemeClr val="tx1"/>
                    </a:solidFill>
                  </a:rPr>
                  <a:t> </a:t>
                </a:r>
                <a:endParaRPr lang="en-GB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688481B-373A-80F2-91CA-FD43E77554FE}"/>
                  </a:ext>
                </a:extLst>
              </p:cNvPr>
              <p:cNvSpPr/>
              <p:nvPr/>
            </p:nvSpPr>
            <p:spPr>
              <a:xfrm>
                <a:off x="9821399" y="2857500"/>
                <a:ext cx="2636054" cy="129540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Arms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6ED53665-F74A-F2B4-529E-549E68DD23AF}"/>
                  </a:ext>
                </a:extLst>
              </p:cNvPr>
              <p:cNvSpPr/>
              <p:nvPr/>
            </p:nvSpPr>
            <p:spPr>
              <a:xfrm>
                <a:off x="8610980" y="3181350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1CBBD85D-CD75-6C41-AB6D-8331AEF8535A}"/>
                  </a:ext>
                </a:extLst>
              </p:cNvPr>
              <p:cNvSpPr/>
              <p:nvPr/>
            </p:nvSpPr>
            <p:spPr>
              <a:xfrm>
                <a:off x="12957160" y="3137137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5B0091B-5841-BC40-4C38-0B242C3492C5}"/>
              </a:ext>
            </a:extLst>
          </p:cNvPr>
          <p:cNvSpPr/>
          <p:nvPr/>
        </p:nvSpPr>
        <p:spPr>
          <a:xfrm>
            <a:off x="9709433" y="1751223"/>
            <a:ext cx="3048000" cy="1831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531D1-2654-1EDB-498B-E2C82E985FFD}"/>
              </a:ext>
            </a:extLst>
          </p:cNvPr>
          <p:cNvSpPr txBox="1"/>
          <p:nvPr/>
        </p:nvSpPr>
        <p:spPr>
          <a:xfrm>
            <a:off x="4717287" y="4525641"/>
            <a:ext cx="88534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Proximal Policy Optimization (PPO)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 (baseline)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Proximal Policy Optimization (</a:t>
            </a:r>
            <a:r>
              <a:rPr lang="en-FI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cPPO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Limit d = 25 &amp; 15 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DC1A2-690B-025D-9FF0-CC00829B7D7F}"/>
              </a:ext>
            </a:extLst>
          </p:cNvPr>
          <p:cNvSpPr txBox="1"/>
          <p:nvPr/>
        </p:nvSpPr>
        <p:spPr>
          <a:xfrm>
            <a:off x="17373600" y="9563100"/>
            <a:ext cx="431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871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723900"/>
            <a:ext cx="38006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09A9B-1F79-04FD-0E3A-2B40E3326A53}"/>
              </a:ext>
            </a:extLst>
          </p:cNvPr>
          <p:cNvSpPr txBox="1"/>
          <p:nvPr/>
        </p:nvSpPr>
        <p:spPr>
          <a:xfrm>
            <a:off x="4262521" y="1714500"/>
            <a:ext cx="9762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200" dirty="0">
                <a:solidFill>
                  <a:srgbClr val="1A1A1A"/>
                </a:solidFill>
                <a:latin typeface="Times New Roman"/>
              </a:rPr>
              <a:t>T</a:t>
            </a:r>
            <a:r>
              <a:rPr lang="en-GB" sz="3200" dirty="0">
                <a:solidFill>
                  <a:srgbClr val="1A1A1A"/>
                </a:solidFill>
                <a:latin typeface="Times New Roman"/>
              </a:rPr>
              <a:t>he </a:t>
            </a:r>
            <a:r>
              <a:rPr lang="en-FI" sz="3200" dirty="0">
                <a:solidFill>
                  <a:srgbClr val="1A1A1A"/>
                </a:solidFill>
                <a:latin typeface="Times New Roman"/>
              </a:rPr>
              <a:t>3</a:t>
            </a:r>
            <a:r>
              <a:rPr lang="en-GB" sz="3200" dirty="0">
                <a:solidFill>
                  <a:srgbClr val="1A1A1A"/>
                </a:solidFill>
                <a:latin typeface="Times New Roman"/>
              </a:rPr>
              <a:t> arms, and what each one isolates</a:t>
            </a:r>
            <a:endParaRPr lang="en-GB" sz="3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A5DC40-5E73-B29B-39B4-0FE4CBFD3299}"/>
              </a:ext>
            </a:extLst>
          </p:cNvPr>
          <p:cNvGrpSpPr/>
          <p:nvPr/>
        </p:nvGrpSpPr>
        <p:grpSpPr>
          <a:xfrm>
            <a:off x="1219200" y="3314700"/>
            <a:ext cx="15849600" cy="2590800"/>
            <a:chOff x="685800" y="2631040"/>
            <a:chExt cx="15849600" cy="1521860"/>
          </a:xfrm>
        </p:grpSpPr>
        <p:sp>
          <p:nvSpPr>
            <p:cNvPr id="9" name="Rounded Rectangle 4">
              <a:extLst>
                <a:ext uri="{FF2B5EF4-FFF2-40B4-BE49-F238E27FC236}">
                  <a16:creationId xmlns:a16="http://schemas.microsoft.com/office/drawing/2014/main" id="{89853F8C-D941-477A-E892-4B82395CDBF2}"/>
                </a:ext>
              </a:extLst>
            </p:cNvPr>
            <p:cNvSpPr/>
            <p:nvPr/>
          </p:nvSpPr>
          <p:spPr>
            <a:xfrm>
              <a:off x="685800" y="2631040"/>
              <a:ext cx="4145280" cy="1521860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54864" rIns="128016" bIns="54864" rtlCol="0" anchor="ctr"/>
            <a:lstStyle/>
            <a:p>
              <a:pPr algn="ctr"/>
              <a:r>
                <a:rPr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PPO (baseline)</a:t>
              </a:r>
            </a:p>
            <a:p>
              <a:pPr algn="ctr"/>
              <a:r>
                <a:rPr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critic present</a:t>
              </a:r>
            </a:p>
            <a:p>
              <a:pPr algn="ctr"/>
              <a:r>
                <a:rPr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λ ceiling = 0</a:t>
              </a:r>
            </a:p>
            <a:p>
              <a:pPr algn="ctr"/>
              <a:r>
                <a:rPr sz="24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unconstrained reference</a:t>
              </a:r>
            </a:p>
          </p:txBody>
        </p:sp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136ADB07-835F-FA95-EC66-1E18E49E28AF}"/>
                </a:ext>
              </a:extLst>
            </p:cNvPr>
            <p:cNvSpPr/>
            <p:nvPr/>
          </p:nvSpPr>
          <p:spPr>
            <a:xfrm>
              <a:off x="6537960" y="2631040"/>
              <a:ext cx="4145280" cy="1521860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54864" rIns="128016" bIns="54864" rtlCol="0" anchor="ctr"/>
            <a:lstStyle/>
            <a:p>
              <a:pPr algn="ctr"/>
              <a:r>
                <a:rPr sz="4000" b="1" dirty="0" err="1">
                  <a:solidFill>
                    <a:schemeClr val="accent1"/>
                  </a:solidFill>
                  <a:latin typeface="Times New Roman"/>
                </a:rPr>
                <a:t>cPPO</a:t>
              </a:r>
              <a:endParaRPr sz="4000" b="1" dirty="0">
                <a:solidFill>
                  <a:schemeClr val="accent1"/>
                </a:solidFill>
                <a:latin typeface="Times New Roman"/>
              </a:endParaRPr>
            </a:p>
            <a:p>
              <a:pPr algn="ctr"/>
              <a:r>
                <a:rPr sz="2800" b="0" dirty="0">
                  <a:solidFill>
                    <a:schemeClr val="tx1"/>
                  </a:solidFill>
                  <a:latin typeface="Times New Roman"/>
                </a:rPr>
                <a:t>cost critic free</a:t>
              </a:r>
            </a:p>
            <a:p>
              <a:pPr algn="ctr"/>
              <a:r>
                <a:rPr sz="3200" b="1" dirty="0">
                  <a:solidFill>
                    <a:schemeClr val="tx1"/>
                  </a:solidFill>
                  <a:latin typeface="Times New Roman"/>
                </a:rPr>
                <a:t>budget d = 25</a:t>
              </a:r>
            </a:p>
            <a:p>
              <a:pPr algn="ctr"/>
              <a:r>
                <a:rPr sz="2400" b="0" dirty="0">
                  <a:solidFill>
                    <a:schemeClr val="tx1"/>
                  </a:solidFill>
                  <a:latin typeface="Times New Roman"/>
                </a:rPr>
                <a:t>constraint active</a:t>
              </a:r>
            </a:p>
          </p:txBody>
        </p:sp>
        <p:sp>
          <p:nvSpPr>
            <p:cNvPr id="13" name="Rounded Rectangle 6">
              <a:extLst>
                <a:ext uri="{FF2B5EF4-FFF2-40B4-BE49-F238E27FC236}">
                  <a16:creationId xmlns:a16="http://schemas.microsoft.com/office/drawing/2014/main" id="{69CF0B13-F013-ACD4-00FB-D147CBAAF30D}"/>
                </a:ext>
              </a:extLst>
            </p:cNvPr>
            <p:cNvSpPr/>
            <p:nvPr/>
          </p:nvSpPr>
          <p:spPr>
            <a:xfrm>
              <a:off x="12390120" y="2631040"/>
              <a:ext cx="4145280" cy="1521860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54864" rIns="128016" bIns="54864" rtlCol="0" anchor="ctr"/>
            <a:lstStyle/>
            <a:p>
              <a:pPr algn="ctr"/>
              <a:r>
                <a:rPr sz="4000" b="1" dirty="0" err="1">
                  <a:solidFill>
                    <a:srgbClr val="00B050"/>
                  </a:solidFill>
                  <a:latin typeface="Times New Roman"/>
                </a:rPr>
                <a:t>cPPO</a:t>
              </a:r>
              <a:r>
                <a:rPr sz="4000" b="1" dirty="0">
                  <a:solidFill>
                    <a:srgbClr val="00B050"/>
                  </a:solidFill>
                  <a:latin typeface="Times New Roman"/>
                </a:rPr>
                <a:t> tightened</a:t>
              </a:r>
            </a:p>
            <a:p>
              <a:pPr algn="ctr"/>
              <a:r>
                <a:rPr sz="2800" b="0" dirty="0">
                  <a:solidFill>
                    <a:schemeClr val="tx1"/>
                  </a:solidFill>
                  <a:latin typeface="Times New Roman"/>
                </a:rPr>
                <a:t>cost critic free</a:t>
              </a:r>
            </a:p>
            <a:p>
              <a:pPr algn="ctr"/>
              <a:r>
                <a:rPr sz="3200" b="1" dirty="0">
                  <a:solidFill>
                    <a:schemeClr val="tx1"/>
                  </a:solidFill>
                  <a:latin typeface="Times New Roman"/>
                </a:rPr>
                <a:t>budget d = 15</a:t>
              </a:r>
            </a:p>
            <a:p>
              <a:pPr algn="ctr"/>
              <a:r>
                <a:rPr sz="2400" b="0" dirty="0">
                  <a:solidFill>
                    <a:schemeClr val="tx1"/>
                  </a:solidFill>
                  <a:latin typeface="Times New Roman"/>
                </a:rPr>
                <a:t>binds on every seed</a:t>
              </a:r>
            </a:p>
          </p:txBody>
        </p:sp>
        <p:sp>
          <p:nvSpPr>
            <p:cNvPr id="17" name="Right Arrow 8">
              <a:extLst>
                <a:ext uri="{FF2B5EF4-FFF2-40B4-BE49-F238E27FC236}">
                  <a16:creationId xmlns:a16="http://schemas.microsoft.com/office/drawing/2014/main" id="{39F59860-7FE0-BE43-11D4-D4396BFF52E9}"/>
                </a:ext>
              </a:extLst>
            </p:cNvPr>
            <p:cNvSpPr/>
            <p:nvPr/>
          </p:nvSpPr>
          <p:spPr>
            <a:xfrm>
              <a:off x="10926572" y="3099582"/>
              <a:ext cx="1220216" cy="584775"/>
            </a:xfrm>
            <a:prstGeom prst="rightArrow">
              <a:avLst/>
            </a:prstGeom>
            <a:solidFill>
              <a:srgbClr val="767676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ight Arrow 8">
              <a:extLst>
                <a:ext uri="{FF2B5EF4-FFF2-40B4-BE49-F238E27FC236}">
                  <a16:creationId xmlns:a16="http://schemas.microsoft.com/office/drawing/2014/main" id="{6EB7D832-32FF-E710-1F0E-2E45AEDBA0D3}"/>
                </a:ext>
              </a:extLst>
            </p:cNvPr>
            <p:cNvSpPr/>
            <p:nvPr/>
          </p:nvSpPr>
          <p:spPr>
            <a:xfrm>
              <a:off x="5120640" y="3099582"/>
              <a:ext cx="1220216" cy="584775"/>
            </a:xfrm>
            <a:prstGeom prst="rightArrow">
              <a:avLst/>
            </a:prstGeom>
            <a:solidFill>
              <a:srgbClr val="767676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8AAF3A8-77CD-0E74-87B6-BB9B7A2FC1E6}"/>
              </a:ext>
            </a:extLst>
          </p:cNvPr>
          <p:cNvSpPr txBox="1"/>
          <p:nvPr/>
        </p:nvSpPr>
        <p:spPr>
          <a:xfrm>
            <a:off x="4755388" y="2604684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highlight>
                  <a:srgbClr val="FFFF00"/>
                </a:highlight>
                <a:latin typeface="Times New Roman"/>
              </a:rPr>
              <a:t>activate the budget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3A73C-EB9D-D9C8-A82C-0BD396FBB720}"/>
              </a:ext>
            </a:extLst>
          </p:cNvPr>
          <p:cNvSpPr txBox="1"/>
          <p:nvPr/>
        </p:nvSpPr>
        <p:spPr>
          <a:xfrm>
            <a:off x="10668000" y="2604685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highlight>
                  <a:srgbClr val="FFFF00"/>
                </a:highlight>
                <a:latin typeface="Times New Roman"/>
              </a:rPr>
              <a:t>tighten the budget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4F658D-3379-40D9-6CC4-602CDCCD6810}"/>
              </a:ext>
            </a:extLst>
          </p:cNvPr>
          <p:cNvGrpSpPr/>
          <p:nvPr/>
        </p:nvGrpSpPr>
        <p:grpSpPr>
          <a:xfrm>
            <a:off x="1219200" y="7155180"/>
            <a:ext cx="15849600" cy="731520"/>
            <a:chOff x="1219200" y="6400800"/>
            <a:chExt cx="15849600" cy="731520"/>
          </a:xfrm>
        </p:grpSpPr>
        <p:sp>
          <p:nvSpPr>
            <p:cNvPr id="6" name="Rounded Rectangle 11">
              <a:extLst>
                <a:ext uri="{FF2B5EF4-FFF2-40B4-BE49-F238E27FC236}">
                  <a16:creationId xmlns:a16="http://schemas.microsoft.com/office/drawing/2014/main" id="{1A65937B-8DC6-208A-6831-5880A1FCDB42}"/>
                </a:ext>
              </a:extLst>
            </p:cNvPr>
            <p:cNvSpPr/>
            <p:nvPr/>
          </p:nvSpPr>
          <p:spPr>
            <a:xfrm>
              <a:off x="1219200" y="6400800"/>
              <a:ext cx="8046720" cy="731520"/>
            </a:xfrm>
            <a:prstGeom prst="roundRect">
              <a:avLst>
                <a:gd name="adj" fmla="val 30000"/>
              </a:avLst>
            </a:prstGeom>
            <a:solidFill>
              <a:schemeClr val="bg1"/>
            </a:solidFill>
            <a:ln w="15875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54864" rIns="128016" bIns="54864" rtlCol="0" anchor="ctr"/>
            <a:lstStyle/>
            <a:p>
              <a:pPr algn="ctr"/>
              <a:r>
                <a:rPr sz="2400" b="1" dirty="0">
                  <a:solidFill>
                    <a:schemeClr val="tx1"/>
                  </a:solidFill>
                  <a:latin typeface="Times New Roman"/>
                </a:rPr>
                <a:t>isolates the constraint effect — the claim of this thesis</a:t>
              </a:r>
            </a:p>
          </p:txBody>
        </p:sp>
        <p:sp>
          <p:nvSpPr>
            <p:cNvPr id="10" name="Rounded Rectangle 12">
              <a:extLst>
                <a:ext uri="{FF2B5EF4-FFF2-40B4-BE49-F238E27FC236}">
                  <a16:creationId xmlns:a16="http://schemas.microsoft.com/office/drawing/2014/main" id="{BEFBFC72-221C-B656-EC79-9F20DCFB58D6}"/>
                </a:ext>
              </a:extLst>
            </p:cNvPr>
            <p:cNvSpPr/>
            <p:nvPr/>
          </p:nvSpPr>
          <p:spPr>
            <a:xfrm>
              <a:off x="9845040" y="6400800"/>
              <a:ext cx="7223760" cy="731520"/>
            </a:xfrm>
            <a:prstGeom prst="roundRect">
              <a:avLst>
                <a:gd name="adj" fmla="val 30000"/>
              </a:avLst>
            </a:prstGeom>
            <a:solidFill>
              <a:schemeClr val="bg1"/>
            </a:solidFill>
            <a:ln w="15875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54864" rIns="128016" bIns="54864" rtlCol="0" anchor="ctr"/>
            <a:lstStyle/>
            <a:p>
              <a:pPr algn="ctr"/>
              <a:r>
                <a:rPr sz="2400" b="1" dirty="0">
                  <a:solidFill>
                    <a:schemeClr val="tx1"/>
                  </a:solidFill>
                  <a:latin typeface="Times New Roman"/>
                </a:rPr>
                <a:t>isolates budget sensitivity — does it scale?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75D1A22-7165-288E-0287-E034B469876F}"/>
              </a:ext>
            </a:extLst>
          </p:cNvPr>
          <p:cNvSpPr/>
          <p:nvPr/>
        </p:nvSpPr>
        <p:spPr>
          <a:xfrm>
            <a:off x="4630874" y="8191500"/>
            <a:ext cx="9270091" cy="1478280"/>
          </a:xfrm>
          <a:prstGeom prst="roundRect">
            <a:avLst>
              <a:gd name="adj" fmla="val 16000"/>
            </a:avLst>
          </a:prstGeom>
          <a:solidFill>
            <a:srgbClr val="F4F4F4"/>
          </a:solidFill>
          <a:ln w="15875">
            <a:solidFill>
              <a:srgbClr val="76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50000"/>
              </a:lnSpc>
            </a:pPr>
            <a:r>
              <a:rPr sz="2800" b="1" dirty="0">
                <a:solidFill>
                  <a:srgbClr val="1A1A1A"/>
                </a:solidFill>
                <a:latin typeface="Times New Roman"/>
              </a:rPr>
              <a:t>5 seeds per arm (1, 3, 4, 52, 54)  →  15 trained policies. </a:t>
            </a:r>
          </a:p>
          <a:p>
            <a:pPr algn="ctr">
              <a:lnSpc>
                <a:spcPct val="150000"/>
              </a:lnSpc>
            </a:pPr>
            <a:r>
              <a:rPr sz="2800" b="1" dirty="0">
                <a:solidFill>
                  <a:srgbClr val="1A1A1A"/>
                </a:solidFill>
                <a:latin typeface="Times New Roman"/>
              </a:rPr>
              <a:t>Every quantity is reported with its spread across seeds</a:t>
            </a:r>
            <a:r>
              <a:rPr sz="2400" b="1" dirty="0">
                <a:solidFill>
                  <a:srgbClr val="1A1A1A"/>
                </a:solidFill>
                <a:latin typeface="Times New Roman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94AB2-EF0B-6EBE-6985-8620F6AAAC09}"/>
              </a:ext>
            </a:extLst>
          </p:cNvPr>
          <p:cNvSpPr txBox="1"/>
          <p:nvPr/>
        </p:nvSpPr>
        <p:spPr>
          <a:xfrm>
            <a:off x="17373600" y="95631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9635" y="723900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4499965" y="1238641"/>
            <a:ext cx="9288069" cy="2262761"/>
            <a:chOff x="0" y="0"/>
            <a:chExt cx="12384092" cy="3017015"/>
          </a:xfrm>
        </p:grpSpPr>
        <p:sp>
          <p:nvSpPr>
            <p:cNvPr id="49" name="TextBox 49"/>
            <p:cNvSpPr txBox="1"/>
            <p:nvPr/>
          </p:nvSpPr>
          <p:spPr>
            <a:xfrm>
              <a:off x="3813827" y="-66675"/>
              <a:ext cx="3648828" cy="6326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2785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Mean Reward: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807549"/>
              <a:ext cx="3813827" cy="2209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893" lvl="1" indent="-280946" algn="r">
                <a:lnSpc>
                  <a:spcPts val="4554"/>
                </a:lnSpc>
                <a:buFont typeface="Arial"/>
                <a:buChar char="•"/>
              </a:pPr>
              <a:r>
                <a:rPr lang="en-US" sz="2602" b="1">
                  <a:solidFill>
                    <a:srgbClr val="D139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PPO(baseline) : </a:t>
              </a:r>
            </a:p>
            <a:p>
              <a:pPr marL="561893" lvl="1" indent="-280946" algn="r">
                <a:lnSpc>
                  <a:spcPts val="4554"/>
                </a:lnSpc>
                <a:buFont typeface="Arial"/>
                <a:buChar char="•"/>
              </a:pPr>
              <a:r>
                <a:rPr lang="en-US" sz="2602" b="1">
                  <a:solidFill>
                    <a:srgbClr val="3362A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cPPO(d=25) : </a:t>
              </a:r>
            </a:p>
            <a:p>
              <a:pPr marL="561893" lvl="1" indent="-280946" algn="r">
                <a:lnSpc>
                  <a:spcPts val="4554"/>
                </a:lnSpc>
                <a:buFont typeface="Arial"/>
                <a:buChar char="•"/>
              </a:pPr>
              <a:r>
                <a:rPr lang="en-US" sz="2602" b="1">
                  <a:solidFill>
                    <a:srgbClr val="31884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cPPO(d=15) : 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73382" y="-66675"/>
              <a:ext cx="4510711" cy="6326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r>
                <a:rPr lang="en-US" sz="2785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Lifting-object reward: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977824" y="807305"/>
              <a:ext cx="1320834" cy="2209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133.06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132.18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134.09 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23361" y="807305"/>
              <a:ext cx="1210752" cy="2209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9.467 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9.437 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9.441 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41C56CF-CC8D-43F6-33C7-EBFE1A252436}"/>
              </a:ext>
            </a:extLst>
          </p:cNvPr>
          <p:cNvSpPr txBox="1"/>
          <p:nvPr/>
        </p:nvSpPr>
        <p:spPr>
          <a:xfrm>
            <a:off x="17373600" y="95631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9A16F01-6981-4443-13CB-1B3193DFD9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3848100"/>
            <a:ext cx="14097000" cy="55463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9635" y="711215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9830" y="9368103"/>
            <a:ext cx="5294211" cy="44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*Tail mean(last 10% of the training  data)</a:t>
            </a:r>
          </a:p>
        </p:txBody>
      </p:sp>
      <p:sp>
        <p:nvSpPr>
          <p:cNvPr id="4" name="Freeform 4"/>
          <p:cNvSpPr/>
          <p:nvPr/>
        </p:nvSpPr>
        <p:spPr>
          <a:xfrm>
            <a:off x="604297" y="2830730"/>
            <a:ext cx="17079405" cy="13613709"/>
          </a:xfrm>
          <a:custGeom>
            <a:avLst/>
            <a:gdLst/>
            <a:ahLst/>
            <a:cxnLst/>
            <a:rect l="l" t="t" r="r" b="b"/>
            <a:pathLst>
              <a:path w="17079405" h="13613709">
                <a:moveTo>
                  <a:pt x="0" y="0"/>
                </a:moveTo>
                <a:lnTo>
                  <a:pt x="17079405" y="0"/>
                </a:lnTo>
                <a:lnTo>
                  <a:pt x="17079405" y="13613709"/>
                </a:lnTo>
                <a:lnTo>
                  <a:pt x="0" y="13613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51074" y="1572663"/>
            <a:ext cx="13437781" cy="124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constraint costs nothing measurable</a:t>
            </a:r>
          </a:p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Constraining the policy did not cost task performance at either budget.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DE766-3ABA-3AB4-DCE2-2FBD7E308EC9}"/>
              </a:ext>
            </a:extLst>
          </p:cNvPr>
          <p:cNvSpPr txBox="1"/>
          <p:nvPr/>
        </p:nvSpPr>
        <p:spPr>
          <a:xfrm>
            <a:off x="17373600" y="95631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15466" y="2127517"/>
            <a:ext cx="10857068" cy="7853279"/>
          </a:xfrm>
          <a:custGeom>
            <a:avLst/>
            <a:gdLst/>
            <a:ahLst/>
            <a:cxnLst/>
            <a:rect l="l" t="t" r="r" b="b"/>
            <a:pathLst>
              <a:path w="10857068" h="7853279">
                <a:moveTo>
                  <a:pt x="0" y="0"/>
                </a:moveTo>
                <a:lnTo>
                  <a:pt x="10857068" y="0"/>
                </a:lnTo>
                <a:lnTo>
                  <a:pt x="10857068" y="7853280"/>
                </a:lnTo>
                <a:lnTo>
                  <a:pt x="0" y="7853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5468" y="711215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49326" y="1215763"/>
            <a:ext cx="10389348" cy="124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Safety: fewer true singularities, zero joint-limit contact</a:t>
            </a:r>
          </a:p>
          <a:p>
            <a:pPr algn="ctr">
              <a:lnSpc>
                <a:spcPts val="4900"/>
              </a:lnSpc>
            </a:pPr>
            <a:endParaRPr lang="en-US" sz="35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C0A5F0-504E-B75A-61F9-48723F9A667F}"/>
              </a:ext>
            </a:extLst>
          </p:cNvPr>
          <p:cNvSpPr txBox="1"/>
          <p:nvPr/>
        </p:nvSpPr>
        <p:spPr>
          <a:xfrm>
            <a:off x="17373600" y="95631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674665"/>
            <a:ext cx="3181841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31317" y="1650423"/>
            <a:ext cx="14502802" cy="541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stated budget changes what a policy does — mostly by making it predictable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27066" y="2147713"/>
            <a:ext cx="13711304" cy="249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4902" lvl="2" indent="-323851">
              <a:lnSpc>
                <a:spcPts val="67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Constraining the policy reduces unsafe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behaviour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1104902" lvl="2" indent="-323851">
              <a:lnSpc>
                <a:spcPts val="67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no measurable task cost. </a:t>
            </a:r>
          </a:p>
          <a:p>
            <a:pPr marL="1104902" lvl="2" indent="-323851">
              <a:lnSpc>
                <a:spcPts val="67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unanticipated effect is on consistency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7723" y="5140476"/>
            <a:ext cx="3867641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751543" y="6138863"/>
            <a:ext cx="12564658" cy="1773307"/>
            <a:chOff x="0" y="-400050"/>
            <a:chExt cx="16752877" cy="2364409"/>
          </a:xfrm>
        </p:grpSpPr>
        <p:sp>
          <p:nvSpPr>
            <p:cNvPr id="7" name="TextBox 7"/>
            <p:cNvSpPr txBox="1"/>
            <p:nvPr/>
          </p:nvSpPr>
          <p:spPr>
            <a:xfrm>
              <a:off x="0" y="-400050"/>
              <a:ext cx="6288796" cy="2279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IBVS systems</a:t>
              </a:r>
            </a:p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Sim-to-real application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89246" y="-400049"/>
              <a:ext cx="7663631" cy="2364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PID </a:t>
              </a:r>
              <a:r>
                <a:rPr lang="en-US" sz="3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Lagrangian</a:t>
              </a: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More Seeds implementations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AABE1F7-AC7F-C3F1-EC5E-EE963C3BF803}"/>
              </a:ext>
            </a:extLst>
          </p:cNvPr>
          <p:cNvSpPr txBox="1"/>
          <p:nvPr/>
        </p:nvSpPr>
        <p:spPr>
          <a:xfrm>
            <a:off x="17373600" y="95631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72969"/>
            <a:ext cx="4192553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Resources: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640996"/>
            <a:ext cx="16230600" cy="7973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Altman, E. (1999). Constrained Markov Decision Processes. Chapman &amp; Hall/CRC.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Schulman, J. et al. (2017). Proximal Policy Optimization Algorithms. arXiv:1707.06347.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Achiam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 et al. (2017). Constrained Policy Optimization. Proc. ICML, PMLR 70.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Ray, A.,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Achiam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J., &amp; Amodei, D. (2019). Benchmarking Safe Exploration in Deep RL. OpenAI.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Stooke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A.,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Achiam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J., &amp;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Abbeel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P. (2020). Responsive Safety in RL by PID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Lagrangian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Methods. Proc. ICML, PMLR 119.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Yoshikawa, T. (1985). Manipulability of Robotic Mechanisms. Int. J. Robotics Research, 4(2).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Henderson, P. et al. (2018). Deep Reinforcement Learning That Matters. Proc. AAAI 32(1).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Khan, F. et al. (2026). RL for Precision Grasping and Safety-Critical Coordination in a Robotic Arm. Intelligent Service Robotics, 19(16).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Shen, Y. et al. (2022). RL-Based Reactive Obstacle Avoidance for Redundant Manipulators. Entropy, 24(2).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54D64-D4CA-FABD-2676-0A226362DF58}"/>
              </a:ext>
            </a:extLst>
          </p:cNvPr>
          <p:cNvSpPr txBox="1"/>
          <p:nvPr/>
        </p:nvSpPr>
        <p:spPr>
          <a:xfrm>
            <a:off x="17373600" y="95631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70611" y="3571860"/>
            <a:ext cx="8946778" cy="157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99"/>
              </a:lnSpc>
            </a:pPr>
            <a:r>
              <a:rPr lang="en-US" sz="8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 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34CCCF-1655-2EFA-238A-4CD6E4AD939D}"/>
              </a:ext>
            </a:extLst>
          </p:cNvPr>
          <p:cNvSpPr txBox="1"/>
          <p:nvPr/>
        </p:nvSpPr>
        <p:spPr>
          <a:xfrm>
            <a:off x="17373600" y="95631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228D51-6423-4DBC-A0EF-FFF911ADDD23}"/>
              </a:ext>
            </a:extLst>
          </p:cNvPr>
          <p:cNvSpPr txBox="1"/>
          <p:nvPr/>
        </p:nvSpPr>
        <p:spPr>
          <a:xfrm>
            <a:off x="1143000" y="952500"/>
            <a:ext cx="335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Appendix: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6273C-0EE3-5898-98DC-B7872AF4B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437" y="2006243"/>
            <a:ext cx="11947125" cy="62745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7B79B0-C6F0-353D-362D-63A47FCD9AF9}"/>
              </a:ext>
            </a:extLst>
          </p:cNvPr>
          <p:cNvSpPr txBox="1"/>
          <p:nvPr/>
        </p:nvSpPr>
        <p:spPr>
          <a:xfrm>
            <a:off x="4290318" y="8608178"/>
            <a:ext cx="9707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Effect of tightening the cost limit on the performances 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5F47A-433C-B6B8-10E9-CB93AF35185B}"/>
              </a:ext>
            </a:extLst>
          </p:cNvPr>
          <p:cNvSpPr txBox="1"/>
          <p:nvPr/>
        </p:nvSpPr>
        <p:spPr>
          <a:xfrm>
            <a:off x="17373600" y="95631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21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9F5AE-BC32-0CEA-5AC1-28399645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8488C-6E9A-7650-C11E-59ADDC46C63E}"/>
              </a:ext>
            </a:extLst>
          </p:cNvPr>
          <p:cNvSpPr txBox="1"/>
          <p:nvPr/>
        </p:nvSpPr>
        <p:spPr>
          <a:xfrm>
            <a:off x="1143000" y="952500"/>
            <a:ext cx="335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Appendix: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8A900-0AA5-C078-5643-4BF5A24B9F5B}"/>
              </a:ext>
            </a:extLst>
          </p:cNvPr>
          <p:cNvSpPr txBox="1"/>
          <p:nvPr/>
        </p:nvSpPr>
        <p:spPr>
          <a:xfrm>
            <a:off x="304800" y="7650770"/>
            <a:ext cx="9707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Effect of </a:t>
            </a:r>
            <a:r>
              <a:rPr lang="en-FI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Lagragian</a:t>
            </a:r>
            <a:r>
              <a:rPr lang="en-FI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multiplier in action  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FF248-8B23-32FC-7BAA-F281142ABD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266" y="2628900"/>
            <a:ext cx="7504528" cy="4576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DB6C50-8C07-CAA6-523D-A37862A613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750" y="2635045"/>
            <a:ext cx="7724030" cy="45765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631E03-7DEB-E2A1-18B7-17CCBF4E19AF}"/>
              </a:ext>
            </a:extLst>
          </p:cNvPr>
          <p:cNvSpPr txBox="1"/>
          <p:nvPr/>
        </p:nvSpPr>
        <p:spPr>
          <a:xfrm>
            <a:off x="10012162" y="7650770"/>
            <a:ext cx="7724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Safety cost varies with the seeds   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EC5D41-9F77-8490-F3E2-548E5AFFE643}"/>
              </a:ext>
            </a:extLst>
          </p:cNvPr>
          <p:cNvSpPr txBox="1"/>
          <p:nvPr/>
        </p:nvSpPr>
        <p:spPr>
          <a:xfrm>
            <a:off x="17373600" y="95631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638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1172</Words>
  <Application>Microsoft Office PowerPoint</Application>
  <PresentationFormat>Custom</PresentationFormat>
  <Paragraphs>233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Times New Roman</vt:lpstr>
      <vt:lpstr>Arial</vt:lpstr>
      <vt:lpstr>Wingdings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slides</dc:title>
  <dc:creator>Touhid Me</dc:creator>
  <cp:lastModifiedBy>Touhid Me</cp:lastModifiedBy>
  <cp:revision>20</cp:revision>
  <dcterms:created xsi:type="dcterms:W3CDTF">2006-08-16T00:00:00Z</dcterms:created>
  <dcterms:modified xsi:type="dcterms:W3CDTF">2026-08-07T15:00:30Z</dcterms:modified>
  <dc:identifier>DAHRbLu5xN4</dc:identifier>
</cp:coreProperties>
</file>