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7190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A1A1A"/>
                </a:solidFill>
                <a:latin typeface="Times New Roman"/>
              </a:rPr>
              <a:t>Methodology — the experimental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07008"/>
            <a:ext cx="1719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6A6A6A"/>
                </a:solidFill>
                <a:latin typeface="Times New Roman"/>
              </a:rPr>
              <a:t>From a simulated arm to 45,000 evaluation episodes, in four stages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965960"/>
            <a:ext cx="3840480" cy="777240"/>
          </a:xfrm>
          <a:prstGeom prst="roundRect">
            <a:avLst>
              <a:gd name="adj" fmla="val 22000"/>
            </a:avLst>
          </a:prstGeom>
          <a:solidFill>
            <a:srgbClr val="DCE9F7"/>
          </a:solidFill>
          <a:ln w="15875">
            <a:solidFill>
              <a:srgbClr val="2E5F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2400" b="1">
                <a:solidFill>
                  <a:srgbClr val="123A63"/>
                </a:solidFill>
                <a:latin typeface="Times New Roman"/>
              </a:rPr>
              <a:t>1. 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834640"/>
            <a:ext cx="3840480" cy="3611880"/>
          </a:xfrm>
          <a:prstGeom prst="roundRect">
            <a:avLst>
              <a:gd name="adj" fmla="val 6000"/>
            </a:avLst>
          </a:prstGeom>
          <a:solidFill>
            <a:srgbClr val="FBFBFB"/>
          </a:solidFill>
          <a:ln w="15875">
            <a:solidFill>
              <a:srgbClr val="AFC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3035808"/>
            <a:ext cx="362102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UR5e + Robotiq 2F-85 gripper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Isaac Sim 5.0 / Isaac Lab 2.3.0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Task: reach, grasp, lift to goal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Observation: joint state +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     object pose (privileged)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Action: 6 joint targets + gripper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Episode: 5.0 s = 250 steps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4096 parallel environments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965960"/>
            <a:ext cx="3840480" cy="777240"/>
          </a:xfrm>
          <a:prstGeom prst="roundRect">
            <a:avLst>
              <a:gd name="adj" fmla="val 22000"/>
            </a:avLst>
          </a:prstGeom>
          <a:solidFill>
            <a:srgbClr val="F9DEDE"/>
          </a:solidFill>
          <a:ln w="15875">
            <a:solidFill>
              <a:srgbClr val="A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2400" b="1">
                <a:solidFill>
                  <a:srgbClr val="6E2626"/>
                </a:solidFill>
                <a:latin typeface="Times New Roman"/>
              </a:rPr>
              <a:t>2.  Safety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834640"/>
            <a:ext cx="3840480" cy="3611880"/>
          </a:xfrm>
          <a:prstGeom prst="roundRect">
            <a:avLst>
              <a:gd name="adj" fmla="val 6000"/>
            </a:avLst>
          </a:prstGeom>
          <a:solidFill>
            <a:srgbClr val="FBFBFB"/>
          </a:solidFill>
          <a:ln w="15875">
            <a:solidFill>
              <a:srgbClr val="EDB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7488" y="3035808"/>
            <a:ext cx="362102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Manipulability floor  w ≥ 0.06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Joint-limit margin  0.175 rad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Collision floor  0.05 m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Each term ramps smoothly,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     never a binary switch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Three terms summed → one budget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Calibrated on a converged run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Baseline natural cost ≈ 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1965960"/>
            <a:ext cx="3840480" cy="777240"/>
          </a:xfrm>
          <a:prstGeom prst="roundRect">
            <a:avLst>
              <a:gd name="adj" fmla="val 22000"/>
            </a:avLst>
          </a:prstGeom>
          <a:solidFill>
            <a:srgbClr val="FCEBD2"/>
          </a:solidFill>
          <a:ln w="15875">
            <a:solidFill>
              <a:srgbClr val="B07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2400" b="1">
                <a:solidFill>
                  <a:srgbClr val="6D4A12"/>
                </a:solidFill>
                <a:latin typeface="Times New Roman"/>
              </a:rPr>
              <a:t>3.  Algorithm arms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2834640"/>
            <a:ext cx="3840480" cy="3611880"/>
          </a:xfrm>
          <a:prstGeom prst="roundRect">
            <a:avLst>
              <a:gd name="adj" fmla="val 6000"/>
            </a:avLst>
          </a:prstGeom>
          <a:solidFill>
            <a:srgbClr val="FBFBFB"/>
          </a:solidFill>
          <a:ln w="15875">
            <a:solidFill>
              <a:srgbClr val="F0D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73767" y="3035808"/>
            <a:ext cx="362102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PPO baseline  (λ pinned at 0)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cPPO  at budget d = 25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cPPO  at budget d = 15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Identical network, hyper-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     parameters and trainer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Seeds: 1, 3, 4, 52, 54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1500 iterations per run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3 arms × 5 seeds = 15 policies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90320" y="1965960"/>
            <a:ext cx="3840480" cy="777240"/>
          </a:xfrm>
          <a:prstGeom prst="roundRect">
            <a:avLst>
              <a:gd name="adj" fmla="val 22000"/>
            </a:avLst>
          </a:prstGeom>
          <a:solidFill>
            <a:srgbClr val="DDF0DE"/>
          </a:solidFill>
          <a:ln w="15875">
            <a:solidFill>
              <a:srgbClr val="3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2400" b="1">
                <a:solidFill>
                  <a:srgbClr val="1E4A23"/>
                </a:solidFill>
                <a:latin typeface="Times New Roman"/>
              </a:rPr>
              <a:t>4.  Evaluation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990320" y="2834640"/>
            <a:ext cx="3840480" cy="3611880"/>
          </a:xfrm>
          <a:prstGeom prst="roundRect">
            <a:avLst>
              <a:gd name="adj" fmla="val 6000"/>
            </a:avLst>
          </a:prstGeom>
          <a:solidFill>
            <a:srgbClr val="FBFBFB"/>
          </a:solidFill>
          <a:ln w="15875">
            <a:solidFill>
              <a:srgbClr val="B5D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00048" y="3035808"/>
            <a:ext cx="362102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Frozen checkpoint, deterministic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Exploration noise off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Eval seeds 101, 102, 103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     (disjoint from training)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1000 episodes per seed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3000 per policy, 15,000 per arm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45,000 episodes in total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3A3A3A"/>
                </a:solidFill>
                <a:latin typeface="Times New Roman"/>
              </a:rPr>
              <a:t>•  Safety counted per episode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370832" y="2157984"/>
            <a:ext cx="475488" cy="393192"/>
          </a:xfrm>
          <a:prstGeom prst="rightArrow">
            <a:avLst/>
          </a:prstGeom>
          <a:solidFill>
            <a:srgbClr val="76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897112" y="2157984"/>
            <a:ext cx="475488" cy="393192"/>
          </a:xfrm>
          <a:prstGeom prst="rightArrow">
            <a:avLst/>
          </a:prstGeom>
          <a:solidFill>
            <a:srgbClr val="76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13423392" y="2157984"/>
            <a:ext cx="475488" cy="393192"/>
          </a:xfrm>
          <a:prstGeom prst="rightArrow">
            <a:avLst/>
          </a:prstGeom>
          <a:solidFill>
            <a:srgbClr val="76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" y="6903720"/>
            <a:ext cx="17419320" cy="960120"/>
          </a:xfrm>
          <a:prstGeom prst="roundRect">
            <a:avLst>
              <a:gd name="adj" fmla="val 16000"/>
            </a:avLst>
          </a:prstGeom>
          <a:solidFill>
            <a:srgbClr val="F4F4F4"/>
          </a:solidFill>
          <a:ln w="15875">
            <a:solidFill>
              <a:srgbClr val="767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2100" b="1">
                <a:solidFill>
                  <a:srgbClr val="1A1A1A"/>
                </a:solidFill>
                <a:latin typeface="Times New Roman"/>
              </a:rPr>
              <a:t>Reward and cost are never summed. The reward carries the task; a separate cost channel carries safety.</a:t>
            </a:r>
          </a:p>
          <a:p>
            <a:pPr algn="ctr"/>
            <a:r>
              <a:rPr sz="1800" b="0">
                <a:solidFill>
                  <a:srgbClr val="5A5A5A"/>
                </a:solidFill>
                <a:latin typeface="Times New Roman"/>
              </a:rPr>
              <a:t>This is what lets any measured safety difference be attributed to the constraint rather than to a reward the arms weighted differently.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7190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A1A1A"/>
                </a:solidFill>
                <a:latin typeface="Times New Roman"/>
              </a:rPr>
              <a:t>Methodology — safety cost: three terms, one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07008"/>
            <a:ext cx="1719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6A6A6A"/>
                </a:solidFill>
                <a:latin typeface="Times New Roman"/>
              </a:rPr>
              <a:t>Three hazards are scored every step, summed, and held against a single stated budget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5852160" cy="1600200"/>
          </a:xfrm>
          <a:prstGeom prst="roundRect">
            <a:avLst>
              <a:gd name="adj" fmla="val 10000"/>
            </a:avLst>
          </a:prstGeom>
          <a:solidFill>
            <a:srgbClr val="F9DEDE"/>
          </a:solidFill>
          <a:ln w="15875">
            <a:solidFill>
              <a:srgbClr val="A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2400" b="1">
                <a:solidFill>
                  <a:srgbClr val="6E2626"/>
                </a:solidFill>
                <a:latin typeface="Times New Roman"/>
              </a:rPr>
              <a:t>Manipulability floor</a:t>
            </a:r>
          </a:p>
          <a:p>
            <a:pPr algn="ctr"/>
            <a:r>
              <a:rPr sz="1900" b="0">
                <a:solidFill>
                  <a:srgbClr val="8E3A3A"/>
                </a:solidFill>
                <a:latin typeface="Times New Roman"/>
              </a:rPr>
              <a:t>w = √det(JJᵀ)  below 0.06</a:t>
            </a:r>
          </a:p>
          <a:p>
            <a:pPr algn="ctr"/>
            <a:r>
              <a:rPr sz="1600" b="0">
                <a:solidFill>
                  <a:srgbClr val="8A6A6A"/>
                </a:solidFill>
                <a:latin typeface="Times New Roman"/>
              </a:rPr>
              <a:t>near-singular: arm loses a direction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160520"/>
            <a:ext cx="5852160" cy="1600200"/>
          </a:xfrm>
          <a:prstGeom prst="roundRect">
            <a:avLst>
              <a:gd name="adj" fmla="val 10000"/>
            </a:avLst>
          </a:prstGeom>
          <a:solidFill>
            <a:srgbClr val="F9DEDE"/>
          </a:solidFill>
          <a:ln w="15875">
            <a:solidFill>
              <a:srgbClr val="A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2400" b="1">
                <a:solidFill>
                  <a:srgbClr val="6E2626"/>
                </a:solidFill>
                <a:latin typeface="Times New Roman"/>
              </a:rPr>
              <a:t>Joint-limit margin</a:t>
            </a:r>
          </a:p>
          <a:p>
            <a:pPr algn="ctr"/>
            <a:r>
              <a:rPr sz="1900" b="0">
                <a:solidFill>
                  <a:srgbClr val="8E3A3A"/>
                </a:solidFill>
                <a:latin typeface="Times New Roman"/>
              </a:rPr>
              <a:t>clearance under 0.175 rad</a:t>
            </a:r>
          </a:p>
          <a:p>
            <a:pPr algn="ctr"/>
            <a:r>
              <a:rPr sz="1600" b="0">
                <a:solidFill>
                  <a:srgbClr val="8A6A6A"/>
                </a:solidFill>
                <a:latin typeface="Times New Roman"/>
              </a:rPr>
              <a:t>joint approaching its mechanical stop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6217920"/>
            <a:ext cx="5852160" cy="1600200"/>
          </a:xfrm>
          <a:prstGeom prst="roundRect">
            <a:avLst>
              <a:gd name="adj" fmla="val 10000"/>
            </a:avLst>
          </a:prstGeom>
          <a:solidFill>
            <a:srgbClr val="F9DEDE"/>
          </a:solidFill>
          <a:ln w="15875">
            <a:solidFill>
              <a:srgbClr val="A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2400" b="1">
                <a:solidFill>
                  <a:srgbClr val="6E2626"/>
                </a:solidFill>
                <a:latin typeface="Times New Roman"/>
              </a:rPr>
              <a:t>Collision keep-out</a:t>
            </a:r>
          </a:p>
          <a:p>
            <a:pPr algn="ctr"/>
            <a:r>
              <a:rPr sz="1900" b="0">
                <a:solidFill>
                  <a:srgbClr val="8E3A3A"/>
                </a:solidFill>
                <a:latin typeface="Times New Roman"/>
              </a:rPr>
              <a:t>link below 0.05 m</a:t>
            </a:r>
          </a:p>
          <a:p>
            <a:pPr algn="ctr"/>
            <a:r>
              <a:rPr sz="1600" b="0">
                <a:solidFill>
                  <a:srgbClr val="8A6A6A"/>
                </a:solidFill>
                <a:latin typeface="Times New Roman"/>
              </a:rPr>
              <a:t>monitored, inactive in every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4160520"/>
            <a:ext cx="3200400" cy="1600200"/>
          </a:xfrm>
          <a:prstGeom prst="roundRect">
            <a:avLst>
              <a:gd name="adj" fmla="val 10000"/>
            </a:avLst>
          </a:prstGeom>
          <a:solidFill>
            <a:srgbClr val="FCEBD2"/>
          </a:solidFill>
          <a:ln w="15875">
            <a:solidFill>
              <a:srgbClr val="B07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2400" b="1">
                <a:solidFill>
                  <a:srgbClr val="6D4A12"/>
                </a:solidFill>
                <a:latin typeface="Times New Roman"/>
              </a:rPr>
              <a:t>Aggregate cost</a:t>
            </a:r>
          </a:p>
          <a:p>
            <a:pPr algn="ctr"/>
            <a:r>
              <a:rPr sz="1800" b="0">
                <a:solidFill>
                  <a:srgbClr val="8F6520"/>
                </a:solidFill>
                <a:latin typeface="Times New Roman"/>
              </a:rPr>
              <a:t>c = sum of the three</a:t>
            </a:r>
          </a:p>
          <a:p>
            <a:pPr algn="ctr"/>
            <a:r>
              <a:rPr sz="1600" b="0">
                <a:solidFill>
                  <a:srgbClr val="9A7A46"/>
                </a:solidFill>
                <a:latin typeface="Times New Roman"/>
              </a:rPr>
              <a:t>one λ governs 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41480" y="416052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15875">
            <a:solidFill>
              <a:srgbClr val="767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2400" b="1">
                <a:solidFill>
                  <a:srgbClr val="333333"/>
                </a:solidFill>
                <a:latin typeface="Times New Roman"/>
              </a:rPr>
              <a:t>Episodic cost</a:t>
            </a:r>
          </a:p>
          <a:p>
            <a:pPr algn="ctr"/>
            <a:r>
              <a:rPr sz="1800" b="0">
                <a:solidFill>
                  <a:srgbClr val="5A5A5A"/>
                </a:solidFill>
                <a:latin typeface="Times New Roman"/>
              </a:rPr>
              <a:t>undiscounted sum</a:t>
            </a:r>
          </a:p>
          <a:p>
            <a:pPr algn="ctr"/>
            <a:r>
              <a:rPr sz="1600" b="0">
                <a:solidFill>
                  <a:srgbClr val="7A7A7A"/>
                </a:solidFill>
                <a:latin typeface="Times New Roman"/>
              </a:rPr>
              <a:t>over 250 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64840" y="4160520"/>
            <a:ext cx="1965960" cy="1600200"/>
          </a:xfrm>
          <a:prstGeom prst="roundRect">
            <a:avLst>
              <a:gd name="adj" fmla="val 10000"/>
            </a:avLst>
          </a:prstGeom>
          <a:solidFill>
            <a:srgbClr val="DDF0DE"/>
          </a:solidFill>
          <a:ln w="15875">
            <a:solidFill>
              <a:srgbClr val="3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2400" b="1">
                <a:solidFill>
                  <a:srgbClr val="1E4A23"/>
                </a:solidFill>
                <a:latin typeface="Times New Roman"/>
              </a:rPr>
              <a:t>Budget</a:t>
            </a:r>
          </a:p>
          <a:p>
            <a:pPr algn="ctr"/>
            <a:r>
              <a:rPr sz="2000" b="1">
                <a:solidFill>
                  <a:srgbClr val="3F7A45"/>
                </a:solidFill>
                <a:latin typeface="Times New Roman"/>
              </a:rPr>
              <a:t>d = 25</a:t>
            </a:r>
          </a:p>
          <a:p>
            <a:pPr algn="ctr"/>
            <a:r>
              <a:rPr sz="2000" b="1">
                <a:solidFill>
                  <a:srgbClr val="3F7A45"/>
                </a:solidFill>
                <a:latin typeface="Times New Roman"/>
              </a:rPr>
              <a:t>or d = 15</a:t>
            </a:r>
          </a:p>
        </p:txBody>
      </p:sp>
      <p:cxnSp>
        <p:nvCxnSpPr>
          <p:cNvPr id="10" name="Connector 9"/>
          <p:cNvCxnSpPr>
            <a:stCxn id="4" idx="3"/>
            <a:endCxn id="7" idx="1"/>
          </p:cNvCxnSpPr>
          <p:nvPr/>
        </p:nvCxnSpPr>
        <p:spPr>
          <a:xfrm>
            <a:off x="6492240" y="2903220"/>
            <a:ext cx="1143000" cy="2057400"/>
          </a:xfrm>
          <a:prstGeom prst="bentConnector3">
            <a:avLst/>
          </a:prstGeom>
          <a:ln w="2222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5" idx="3"/>
            <a:endCxn id="7" idx="1"/>
          </p:cNvCxnSpPr>
          <p:nvPr/>
        </p:nvCxnSpPr>
        <p:spPr>
          <a:xfrm flipV="1">
            <a:off x="6492240" y="4960620"/>
            <a:ext cx="1143000" cy="0"/>
          </a:xfrm>
          <a:prstGeom prst="bentConnector3">
            <a:avLst/>
          </a:prstGeom>
          <a:ln w="2222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6" idx="3"/>
            <a:endCxn id="7" idx="1"/>
          </p:cNvCxnSpPr>
          <p:nvPr/>
        </p:nvCxnSpPr>
        <p:spPr>
          <a:xfrm flipV="1">
            <a:off x="6492240" y="4960620"/>
            <a:ext cx="1143000" cy="2057400"/>
          </a:xfrm>
          <a:prstGeom prst="bentConnector3">
            <a:avLst/>
          </a:prstGeom>
          <a:ln w="2222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7" idx="3"/>
            <a:endCxn id="8" idx="1"/>
          </p:cNvCxnSpPr>
          <p:nvPr/>
        </p:nvCxnSpPr>
        <p:spPr>
          <a:xfrm flipV="1">
            <a:off x="10835640" y="4960620"/>
            <a:ext cx="1005840" cy="0"/>
          </a:xfrm>
          <a:prstGeom prst="line">
            <a:avLst/>
          </a:prstGeom>
          <a:ln w="2222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8" idx="3"/>
            <a:endCxn id="9" idx="1"/>
          </p:cNvCxnSpPr>
          <p:nvPr/>
        </p:nvCxnSpPr>
        <p:spPr>
          <a:xfrm flipV="1">
            <a:off x="14859000" y="4960620"/>
            <a:ext cx="1005840" cy="0"/>
          </a:xfrm>
          <a:prstGeom prst="line">
            <a:avLst/>
          </a:prstGeom>
          <a:ln w="2222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79" y="65379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5A5A5A"/>
                </a:solidFill>
                <a:latin typeface="Times New Roman"/>
              </a:rPr>
              <a:t>Every term ramps smoothly from 0 to 1 rather than flipping — a binary flag would give the cost critic no gradient to learn from.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8183879"/>
            <a:ext cx="17190720" cy="960120"/>
          </a:xfrm>
          <a:prstGeom prst="roundRect">
            <a:avLst>
              <a:gd name="adj" fmla="val 16000"/>
            </a:avLst>
          </a:prstGeom>
          <a:solidFill>
            <a:srgbClr val="F4F4F4"/>
          </a:solidFill>
          <a:ln w="15875">
            <a:solidFill>
              <a:srgbClr val="767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2100" b="1">
                <a:solidFill>
                  <a:srgbClr val="1A1A1A"/>
                </a:solidFill>
                <a:latin typeface="Times New Roman"/>
              </a:rPr>
              <a:t>The budget is a number an engineer can defend before training starts, and audit against afterwards.</a:t>
            </a:r>
          </a:p>
          <a:p>
            <a:pPr algn="ctr"/>
            <a:r>
              <a:rPr sz="1800" b="0">
                <a:solidFill>
                  <a:srgbClr val="5A5A5A"/>
                </a:solidFill>
                <a:latin typeface="Times New Roman"/>
              </a:rPr>
              <a:t>Thresholds were calibrated on a converged unconstrained run and frozen before the first comparison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7190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A1A1A"/>
                </a:solidFill>
                <a:latin typeface="Times New Roman"/>
              </a:rPr>
              <a:t>Methodology — the three arms, and what each one isolates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07008"/>
            <a:ext cx="1719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6A6A6A"/>
                </a:solidFill>
                <a:latin typeface="Times New Roman"/>
              </a:rPr>
              <a:t>The comparison is designed so the constraint's effect can be separated from the machinery that implements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7190720" cy="868680"/>
          </a:xfrm>
          <a:prstGeom prst="roundRect">
            <a:avLst>
              <a:gd name="adj" fmla="val 20000"/>
            </a:avLst>
          </a:prstGeom>
          <a:solidFill>
            <a:srgbClr val="F4F4F4"/>
          </a:solidFill>
          <a:ln w="15875">
            <a:solidFill>
              <a:srgbClr val="767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1900" b="0">
                <a:solidFill>
                  <a:srgbClr val="444444"/>
                </a:solidFill>
                <a:latin typeface="Times New Roman"/>
              </a:rPr>
              <a:t>Validity check:  a plain PPO arm was also trained — its stored weights are byte-identical to the baseline arm's, so the implementation term is exactly zero, verified rather than assumed.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840480"/>
            <a:ext cx="4937760" cy="2240280"/>
          </a:xfrm>
          <a:prstGeom prst="roundRect">
            <a:avLst>
              <a:gd name="adj" fmla="val 10000"/>
            </a:avLst>
          </a:prstGeom>
          <a:solidFill>
            <a:srgbClr val="DCE9F7"/>
          </a:solidFill>
          <a:ln w="15875">
            <a:solidFill>
              <a:srgbClr val="2E5F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2800" b="1">
                <a:solidFill>
                  <a:srgbClr val="123A63"/>
                </a:solidFill>
                <a:latin typeface="Times New Roman"/>
              </a:rPr>
              <a:t>PPO (baseline)</a:t>
            </a:r>
          </a:p>
          <a:p>
            <a:pPr algn="ctr"/>
            <a:r>
              <a:rPr sz="1900" b="0">
                <a:solidFill>
                  <a:srgbClr val="31597F"/>
                </a:solidFill>
                <a:latin typeface="Times New Roman"/>
              </a:rPr>
              <a:t>cost critic present</a:t>
            </a:r>
          </a:p>
          <a:p>
            <a:pPr algn="ctr"/>
            <a:r>
              <a:rPr sz="2100" b="1">
                <a:solidFill>
                  <a:srgbClr val="31597F"/>
                </a:solidFill>
                <a:latin typeface="Times New Roman"/>
              </a:rPr>
              <a:t>λ ceiling = 0</a:t>
            </a:r>
          </a:p>
          <a:p>
            <a:pPr algn="ctr"/>
            <a:r>
              <a:rPr sz="1600" b="0">
                <a:solidFill>
                  <a:srgbClr val="7A7A7A"/>
                </a:solidFill>
                <a:latin typeface="Times New Roman"/>
              </a:rPr>
              <a:t>the unconstrained 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3840480"/>
            <a:ext cx="4937760" cy="2240280"/>
          </a:xfrm>
          <a:prstGeom prst="roundRect">
            <a:avLst>
              <a:gd name="adj" fmla="val 10000"/>
            </a:avLst>
          </a:prstGeom>
          <a:solidFill>
            <a:srgbClr val="FCEBD2"/>
          </a:solidFill>
          <a:ln w="15875">
            <a:solidFill>
              <a:srgbClr val="B07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2800" b="1">
                <a:solidFill>
                  <a:srgbClr val="6D4A12"/>
                </a:solidFill>
                <a:latin typeface="Times New Roman"/>
              </a:rPr>
              <a:t>cPPO</a:t>
            </a:r>
          </a:p>
          <a:p>
            <a:pPr algn="ctr"/>
            <a:r>
              <a:rPr sz="1900" b="0">
                <a:solidFill>
                  <a:srgbClr val="8F6520"/>
                </a:solidFill>
                <a:latin typeface="Times New Roman"/>
              </a:rPr>
              <a:t>cost critic free</a:t>
            </a:r>
          </a:p>
          <a:p>
            <a:pPr algn="ctr"/>
            <a:r>
              <a:rPr sz="2100" b="1">
                <a:solidFill>
                  <a:srgbClr val="8F6520"/>
                </a:solidFill>
                <a:latin typeface="Times New Roman"/>
              </a:rPr>
              <a:t>budget d = 25</a:t>
            </a:r>
          </a:p>
          <a:p>
            <a:pPr algn="ctr"/>
            <a:r>
              <a:rPr sz="1600" b="0">
                <a:solidFill>
                  <a:srgbClr val="7A7A7A"/>
                </a:solidFill>
                <a:latin typeface="Times New Roman"/>
              </a:rPr>
              <a:t>constraint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527280" y="3840480"/>
            <a:ext cx="4937760" cy="2240280"/>
          </a:xfrm>
          <a:prstGeom prst="roundRect">
            <a:avLst>
              <a:gd name="adj" fmla="val 10000"/>
            </a:avLst>
          </a:prstGeom>
          <a:solidFill>
            <a:srgbClr val="DDF0DE"/>
          </a:solidFill>
          <a:ln w="15875">
            <a:solidFill>
              <a:srgbClr val="3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2800" b="1">
                <a:solidFill>
                  <a:srgbClr val="1E4A23"/>
                </a:solidFill>
                <a:latin typeface="Times New Roman"/>
              </a:rPr>
              <a:t>cPPO tightened</a:t>
            </a:r>
          </a:p>
          <a:p>
            <a:pPr algn="ctr"/>
            <a:r>
              <a:rPr sz="1900" b="0">
                <a:solidFill>
                  <a:srgbClr val="3F7A45"/>
                </a:solidFill>
                <a:latin typeface="Times New Roman"/>
              </a:rPr>
              <a:t>cost critic free</a:t>
            </a:r>
          </a:p>
          <a:p>
            <a:pPr algn="ctr"/>
            <a:r>
              <a:rPr sz="2100" b="1">
                <a:solidFill>
                  <a:srgbClr val="3F7A45"/>
                </a:solidFill>
                <a:latin typeface="Times New Roman"/>
              </a:rPr>
              <a:t>budget d = 15</a:t>
            </a:r>
          </a:p>
          <a:p>
            <a:pPr algn="ctr"/>
            <a:r>
              <a:rPr sz="1600" b="0">
                <a:solidFill>
                  <a:srgbClr val="7A7A7A"/>
                </a:solidFill>
                <a:latin typeface="Times New Roman"/>
              </a:rPr>
              <a:t>binds on every seed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25312" y="4754880"/>
            <a:ext cx="658368" cy="411480"/>
          </a:xfrm>
          <a:prstGeom prst="rightArrow">
            <a:avLst/>
          </a:prstGeom>
          <a:solidFill>
            <a:srgbClr val="76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11777472" y="4754880"/>
            <a:ext cx="658368" cy="411480"/>
          </a:xfrm>
          <a:prstGeom prst="rightArrow">
            <a:avLst/>
          </a:prstGeom>
          <a:solidFill>
            <a:srgbClr val="76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2918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6A6A6A"/>
                </a:solidFill>
                <a:latin typeface="Times New Roman"/>
              </a:rPr>
              <a:t>activate the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32918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6A6A6A"/>
                </a:solidFill>
                <a:latin typeface="Times New Roman"/>
              </a:rPr>
              <a:t>tighten the budget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6400800"/>
            <a:ext cx="8046720" cy="731520"/>
          </a:xfrm>
          <a:prstGeom prst="roundRect">
            <a:avLst>
              <a:gd name="adj" fmla="val 30000"/>
            </a:avLst>
          </a:prstGeom>
          <a:solidFill>
            <a:srgbClr val="FCEBD2"/>
          </a:solidFill>
          <a:ln w="15875">
            <a:solidFill>
              <a:srgbClr val="B07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1900" b="1">
                <a:solidFill>
                  <a:srgbClr val="6D4A12"/>
                </a:solidFill>
                <a:latin typeface="Times New Roman"/>
              </a:rPr>
              <a:t>isolates the constraint effect — the claim of this thesis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07040" y="6400800"/>
            <a:ext cx="7223760" cy="731520"/>
          </a:xfrm>
          <a:prstGeom prst="roundRect">
            <a:avLst>
              <a:gd name="adj" fmla="val 30000"/>
            </a:avLst>
          </a:prstGeom>
          <a:solidFill>
            <a:srgbClr val="DDF0DE"/>
          </a:solidFill>
          <a:ln w="15875">
            <a:solidFill>
              <a:srgbClr val="3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1900" b="1">
                <a:solidFill>
                  <a:srgbClr val="1E4A23"/>
                </a:solidFill>
                <a:latin typeface="Times New Roman"/>
              </a:rPr>
              <a:t>isolates budget sensitivity — does it scale?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8183879"/>
            <a:ext cx="17007840" cy="960120"/>
          </a:xfrm>
          <a:prstGeom prst="roundRect">
            <a:avLst>
              <a:gd name="adj" fmla="val 16000"/>
            </a:avLst>
          </a:prstGeom>
          <a:solidFill>
            <a:srgbClr val="F4F4F4"/>
          </a:solidFill>
          <a:ln w="15875">
            <a:solidFill>
              <a:srgbClr val="767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  <a:r>
              <a:rPr sz="2100" b="1">
                <a:solidFill>
                  <a:srgbClr val="1A1A1A"/>
                </a:solidFill>
                <a:latin typeface="Times New Roman"/>
              </a:rPr>
              <a:t>5 seeds per arm (1, 3, 4, 52, 54)  →  15 trained policies. Every quantity is reported with its spread across seeds.</a:t>
            </a:r>
          </a:p>
          <a:p>
            <a:pPr algn="ctr"/>
            <a:r>
              <a:rPr sz="1800" b="0">
                <a:solidFill>
                  <a:srgbClr val="5A5A5A"/>
                </a:solidFill>
                <a:latin typeface="Times New Roman"/>
              </a:rPr>
              <a:t>This design answers all three gaps found in the literature: no control arm, no dispersion, one budget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