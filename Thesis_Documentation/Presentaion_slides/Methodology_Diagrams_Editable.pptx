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Times New Roman"/>
              </a:rPr>
              <a:t>Methodology — task and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2651760"/>
            <a:ext cx="3840480" cy="137160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E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123A63"/>
                </a:solidFill>
                <a:latin typeface="Times New Roman"/>
              </a:rPr>
              <a:t>Policy</a:t>
            </a:r>
          </a:p>
          <a:p>
            <a:pPr algn="ctr"/>
            <a:r>
              <a:rPr sz="1900">
                <a:solidFill>
                  <a:srgbClr val="2E5F94"/>
                </a:solidFill>
                <a:latin typeface="Times New Roman"/>
              </a:rPr>
              <a:t>neural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07040" y="2651760"/>
            <a:ext cx="3840480" cy="1371600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333333"/>
                </a:solidFill>
                <a:latin typeface="Times New Roman"/>
              </a:rPr>
              <a:t>Environment</a:t>
            </a:r>
          </a:p>
          <a:p>
            <a:pPr algn="ctr"/>
            <a:r>
              <a:rPr sz="1900">
                <a:solidFill>
                  <a:srgbClr val="555555"/>
                </a:solidFill>
                <a:latin typeface="Times New Roman"/>
              </a:rPr>
              <a:t>UR5e in Isaac Sim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5943600"/>
            <a:ext cx="4023360" cy="1371600"/>
          </a:xfrm>
          <a:prstGeom prst="roundRect">
            <a:avLst>
              <a:gd name="adj" fmla="val 12000"/>
            </a:avLst>
          </a:prstGeom>
          <a:solidFill>
            <a:srgbClr val="DDF0DE"/>
          </a:solidFill>
          <a:ln w="15875">
            <a:solidFill>
              <a:srgbClr val="3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1E4A23"/>
                </a:solidFill>
                <a:latin typeface="Times New Roman"/>
              </a:rPr>
              <a:t>Reward</a:t>
            </a:r>
          </a:p>
          <a:p>
            <a:pPr algn="ctr"/>
            <a:r>
              <a:rPr sz="1900">
                <a:solidFill>
                  <a:srgbClr val="3F7A45"/>
                </a:solidFill>
                <a:latin typeface="Times New Roman"/>
              </a:rPr>
              <a:t>task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5943600"/>
            <a:ext cx="4023360" cy="1371600"/>
          </a:xfrm>
          <a:prstGeom prst="roundRect">
            <a:avLst>
              <a:gd name="adj" fmla="val 12000"/>
            </a:avLst>
          </a:prstGeom>
          <a:solidFill>
            <a:srgbClr val="F9DEDE"/>
          </a:solidFill>
          <a:ln w="15875">
            <a:solidFill>
              <a:srgbClr val="A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6E2626"/>
                </a:solidFill>
                <a:latin typeface="Times New Roman"/>
              </a:rPr>
              <a:t>Cost</a:t>
            </a:r>
          </a:p>
          <a:p>
            <a:pPr algn="ctr"/>
            <a:r>
              <a:rPr sz="1900">
                <a:solidFill>
                  <a:srgbClr val="A64545"/>
                </a:solidFill>
                <a:latin typeface="Times New Roman"/>
              </a:rPr>
              <a:t>safety hazard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2926080" cy="1371600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333333"/>
                </a:solidFill>
                <a:latin typeface="Times New Roman"/>
              </a:rPr>
              <a:t>State</a:t>
            </a:r>
          </a:p>
          <a:p>
            <a:pPr algn="ctr"/>
            <a:r>
              <a:rPr sz="1900">
                <a:solidFill>
                  <a:srgbClr val="555555"/>
                </a:solidFill>
                <a:latin typeface="Times New Roman"/>
              </a:rPr>
              <a:t>joint + object pose</a:t>
            </a:r>
          </a:p>
        </p:txBody>
      </p:sp>
      <p:cxnSp>
        <p:nvCxnSpPr>
          <p:cNvPr id="8" name="Connector 7"/>
          <p:cNvCxnSpPr>
            <a:stCxn id="7" idx="3"/>
            <a:endCxn id="3" idx="1"/>
          </p:cNvCxnSpPr>
          <p:nvPr/>
        </p:nvCxnSpPr>
        <p:spPr>
          <a:xfrm flipV="1">
            <a:off x="3749040" y="3337560"/>
            <a:ext cx="1188720" cy="0"/>
          </a:xfrm>
          <a:prstGeom prst="line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3" idx="3"/>
            <a:endCxn id="4" idx="1"/>
          </p:cNvCxnSpPr>
          <p:nvPr/>
        </p:nvCxnSpPr>
        <p:spPr>
          <a:xfrm flipV="1">
            <a:off x="8778240" y="3337560"/>
            <a:ext cx="1828800" cy="0"/>
          </a:xfrm>
          <a:prstGeom prst="line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0" y="2240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Times New Roman"/>
              </a:rPr>
              <a:t>action</a:t>
            </a:r>
          </a:p>
        </p:txBody>
      </p:sp>
      <p:cxnSp>
        <p:nvCxnSpPr>
          <p:cNvPr id="11" name="Connector 10"/>
          <p:cNvCxnSpPr>
            <a:stCxn id="4" idx="2"/>
            <a:endCxn id="5" idx="0"/>
          </p:cNvCxnSpPr>
          <p:nvPr/>
        </p:nvCxnSpPr>
        <p:spPr>
          <a:xfrm flipH="1">
            <a:off x="5486400" y="4023360"/>
            <a:ext cx="7040880" cy="192024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2"/>
            <a:endCxn id="6" idx="0"/>
          </p:cNvCxnSpPr>
          <p:nvPr/>
        </p:nvCxnSpPr>
        <p:spPr>
          <a:xfrm>
            <a:off x="12527280" y="4023360"/>
            <a:ext cx="457200" cy="192024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0" y="7543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F7A45"/>
                </a:solidFill>
                <a:latin typeface="Times New Roman"/>
              </a:rPr>
              <a:t>shaped: reach, lift,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7543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64545"/>
                </a:solidFill>
                <a:latin typeface="Times New Roman"/>
              </a:rPr>
              <a:t>manipulability, joint limit, collision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854964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Times New Roman"/>
              </a:rPr>
              <a:t>Reward and cost stay in separate channels — they are never summed into one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909828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555555"/>
                </a:solidFill>
                <a:latin typeface="Times New Roman"/>
              </a:rPr>
              <a:t>3 arms  ×  5 seeds  =  15 trained policies      |      4096 parallel envs, 1500 iterations per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664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Times New Roman"/>
              </a:rPr>
              <a:t>Methodology — PPO to cPPO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23760" y="2103120"/>
            <a:ext cx="3840480" cy="137160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E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123A63"/>
                </a:solidFill>
                <a:latin typeface="Times New Roman"/>
              </a:rPr>
              <a:t>Actor</a:t>
            </a:r>
          </a:p>
          <a:p>
            <a:pPr algn="ctr"/>
            <a:r>
              <a:rPr sz="1900">
                <a:solidFill>
                  <a:srgbClr val="2E5F94"/>
                </a:solidFill>
                <a:latin typeface="Times New Roman"/>
              </a:rPr>
              <a:t>policy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434840"/>
            <a:ext cx="5852160" cy="24688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B07C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69848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07C2E"/>
                </a:solidFill>
                <a:latin typeface="Times New Roman"/>
              </a:rPr>
              <a:t>cPPO adds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5029200"/>
            <a:ext cx="4206240" cy="1371600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5875">
            <a:solidFill>
              <a:srgbClr val="76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333333"/>
                </a:solidFill>
                <a:latin typeface="Times New Roman"/>
              </a:rPr>
              <a:t>Reward critic</a:t>
            </a:r>
          </a:p>
          <a:p>
            <a:pPr algn="ctr"/>
            <a:r>
              <a:rPr sz="1900">
                <a:solidFill>
                  <a:srgbClr val="555555"/>
                </a:solidFill>
                <a:latin typeface="Times New Roman"/>
              </a:rPr>
              <a:t>task advantage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64240" y="5120640"/>
            <a:ext cx="4754880" cy="1371600"/>
          </a:xfrm>
          <a:prstGeom prst="roundRect">
            <a:avLst>
              <a:gd name="adj" fmla="val 12000"/>
            </a:avLst>
          </a:prstGeom>
          <a:solidFill>
            <a:srgbClr val="FCEBD2"/>
          </a:solidFill>
          <a:ln w="15875">
            <a:solidFill>
              <a:srgbClr val="B07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6D4A12"/>
                </a:solidFill>
                <a:latin typeface="Times New Roman"/>
              </a:rPr>
              <a:t>Cost critic</a:t>
            </a:r>
          </a:p>
          <a:p>
            <a:pPr algn="ctr"/>
            <a:r>
              <a:rPr sz="1900">
                <a:solidFill>
                  <a:srgbClr val="B07C2E"/>
                </a:solidFill>
                <a:latin typeface="Times New Roman"/>
              </a:rPr>
              <a:t>safety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7680960"/>
            <a:ext cx="6035040" cy="1371600"/>
          </a:xfrm>
          <a:prstGeom prst="roundRect">
            <a:avLst>
              <a:gd name="adj" fmla="val 12000"/>
            </a:avLst>
          </a:prstGeom>
          <a:solidFill>
            <a:srgbClr val="DCE9F7"/>
          </a:solidFill>
          <a:ln w="15875">
            <a:solidFill>
              <a:srgbClr val="2E5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800" b="1">
                <a:solidFill>
                  <a:srgbClr val="123A63"/>
                </a:solidFill>
                <a:latin typeface="Times New Roman"/>
              </a:rPr>
              <a:t>Combined advantage</a:t>
            </a:r>
          </a:p>
          <a:p>
            <a:pPr algn="ctr"/>
            <a:r>
              <a:rPr sz="1900">
                <a:solidFill>
                  <a:srgbClr val="2E5F94"/>
                </a:solidFill>
                <a:latin typeface="Times New Roman"/>
              </a:rPr>
              <a:t>reward  −  λ × cost</a:t>
            </a:r>
          </a:p>
        </p:txBody>
      </p:sp>
      <p:cxnSp>
        <p:nvCxnSpPr>
          <p:cNvPr id="9" name="Connector 8"/>
          <p:cNvCxnSpPr>
            <a:stCxn id="3" idx="2"/>
            <a:endCxn id="6" idx="0"/>
          </p:cNvCxnSpPr>
          <p:nvPr/>
        </p:nvCxnSpPr>
        <p:spPr>
          <a:xfrm flipH="1">
            <a:off x="4480560" y="3474720"/>
            <a:ext cx="4663440" cy="155448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3" idx="2"/>
            <a:endCxn id="7" idx="0"/>
          </p:cNvCxnSpPr>
          <p:nvPr/>
        </p:nvCxnSpPr>
        <p:spPr>
          <a:xfrm>
            <a:off x="9144000" y="3474720"/>
            <a:ext cx="4297680" cy="164592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2"/>
            <a:endCxn id="8" idx="1"/>
          </p:cNvCxnSpPr>
          <p:nvPr/>
        </p:nvCxnSpPr>
        <p:spPr>
          <a:xfrm>
            <a:off x="4480560" y="6400800"/>
            <a:ext cx="1645920" cy="196596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7" idx="2"/>
            <a:endCxn id="8" idx="3"/>
          </p:cNvCxnSpPr>
          <p:nvPr/>
        </p:nvCxnSpPr>
        <p:spPr>
          <a:xfrm flipH="1">
            <a:off x="12161520" y="6492240"/>
            <a:ext cx="1280160" cy="1874520"/>
          </a:xfrm>
          <a:prstGeom prst="bentConnector3">
            <a:avLst/>
          </a:prstGeom>
          <a:ln w="22225">
            <a:solidFill>
              <a:srgbClr val="767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28800" y="928116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Times New Roman"/>
              </a:rPr>
              <a:t>λ rises while over budget, decays once under — never hand-tuned.      Setting λ = 0 recovers plain PPO exactly.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