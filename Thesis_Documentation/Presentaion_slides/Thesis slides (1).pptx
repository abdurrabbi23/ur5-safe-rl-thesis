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2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A18BB-8BE7-4C7A-B3AF-66511F60AD35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CAC75-1D01-4395-A78B-1ABF48ECD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7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28177" y="6515100"/>
            <a:ext cx="1431643" cy="1639128"/>
          </a:xfrm>
          <a:custGeom>
            <a:avLst/>
            <a:gdLst/>
            <a:ahLst/>
            <a:cxnLst/>
            <a:rect l="l" t="t" r="r" b="b"/>
            <a:pathLst>
              <a:path w="1431643" h="1639128">
                <a:moveTo>
                  <a:pt x="0" y="0"/>
                </a:moveTo>
                <a:lnTo>
                  <a:pt x="1431644" y="0"/>
                </a:lnTo>
                <a:lnTo>
                  <a:pt x="1431644" y="1639127"/>
                </a:lnTo>
                <a:lnTo>
                  <a:pt x="0" y="163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652285"/>
            <a:ext cx="16230600" cy="236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2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Comparative Evaluation of Constrained and Unconstrained Deep Reinforcement Learning for Safe Robotic Grasping on a UR5e Manipulator in Simulation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5302" y="6173473"/>
            <a:ext cx="3281596" cy="197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</a:p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MD ABDUR RABBI</a:t>
            </a:r>
          </a:p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Roll: 2031023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9122" y="6268723"/>
            <a:ext cx="5475117" cy="214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Supervised by,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Priyo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Nath Roy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Dept. of Mechatronics Engineering</a:t>
            </a:r>
          </a:p>
        </p:txBody>
      </p:sp>
      <p:sp>
        <p:nvSpPr>
          <p:cNvPr id="6" name="AutoShape 6"/>
          <p:cNvSpPr/>
          <p:nvPr/>
        </p:nvSpPr>
        <p:spPr>
          <a:xfrm>
            <a:off x="6543629" y="5124450"/>
            <a:ext cx="52007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592848" y="8896465"/>
            <a:ext cx="91023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&amp; Technology, Khulna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3875" y="5124450"/>
            <a:ext cx="4860248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Date of defense: 08 August,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8042" y="2551667"/>
            <a:ext cx="7413145" cy="4954033"/>
          </a:xfrm>
          <a:custGeom>
            <a:avLst/>
            <a:gdLst/>
            <a:ahLst/>
            <a:cxnLst/>
            <a:rect l="l" t="t" r="r" b="b"/>
            <a:pathLst>
              <a:path w="7794145" h="5183666">
                <a:moveTo>
                  <a:pt x="0" y="0"/>
                </a:moveTo>
                <a:lnTo>
                  <a:pt x="7794145" y="0"/>
                </a:lnTo>
                <a:lnTo>
                  <a:pt x="7794145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3607"/>
            <a:ext cx="355689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3710" y="147779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UR5: A collaborative arm that shares space with people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2137261"/>
            <a:ext cx="8128893" cy="300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6-DOF, 5 kg payload, 850 mm reach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Max joint velocity 180 deg/s (𝜋 rad/s) 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with ±360° working limit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Works next to people, not behind a fence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0096" y="6094945"/>
            <a:ext cx="7838914" cy="68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We use Reinforcement Learning (RL) to train robots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5107" y="659348"/>
            <a:ext cx="3314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735901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Let’s not just train a polity based on reward and penalty - </a:t>
            </a:r>
            <a:r>
              <a:rPr kumimoji="0" lang="en-US" sz="300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start adding constraints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1943100"/>
            <a:ext cx="1446831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ctr">
              <a:buFont typeface="Wingdings" panose="05000000000000000000" pitchFamily="2" charset="2"/>
              <a:buChar char="q"/>
            </a:pP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shapes Policy but Constrains add safety with consistency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buFont typeface="Wingdings" panose="05000000000000000000" pitchFamily="2" charset="2"/>
              <a:buChar char="q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133C7-5E4D-874C-38E0-442F805E1672}"/>
              </a:ext>
            </a:extLst>
          </p:cNvPr>
          <p:cNvSpPr txBox="1"/>
          <p:nvPr/>
        </p:nvSpPr>
        <p:spPr>
          <a:xfrm>
            <a:off x="2667000" y="2781300"/>
            <a:ext cx="1150620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learned policy can't be inspected like a hand-coded controller — its behaviour is only known statistically</a:t>
            </a:r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on this class of arm is already an active industrial requirement, not a hypothetical</a:t>
            </a:r>
            <a:endParaRPr lang="en-FI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only by trial and error, after the fact</a:t>
            </a:r>
            <a:endParaRPr lang="en-FI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tests the alternative: pull safety out of the reward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4B52-18DD-06CA-72C2-9DFAECB8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33DF3C-60D7-EB04-9673-6B20C0BE9D5F}"/>
              </a:ext>
            </a:extLst>
          </p:cNvPr>
          <p:cNvSpPr txBox="1"/>
          <p:nvPr/>
        </p:nvSpPr>
        <p:spPr>
          <a:xfrm>
            <a:off x="990600" y="693594"/>
            <a:ext cx="44958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FI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9D7564B-1FB6-760E-C83D-F24E46727C7F}"/>
              </a:ext>
            </a:extLst>
          </p:cNvPr>
          <p:cNvSpPr txBox="1"/>
          <p:nvPr/>
        </p:nvSpPr>
        <p:spPr>
          <a:xfrm>
            <a:off x="4400576" y="1714500"/>
            <a:ext cx="9486848" cy="50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 Against the Closest Work</a:t>
            </a:r>
            <a:endParaRPr lang="en-US" sz="30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7C714F-45E7-9114-8520-B75BF1BF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76797"/>
              </p:ext>
            </p:extLst>
          </p:nvPr>
        </p:nvGraphicFramePr>
        <p:xfrm>
          <a:off x="1981200" y="2567496"/>
          <a:ext cx="14630400" cy="6919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45001885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3039366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75132958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1364194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thesis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41824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Franka Panda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4-DOF planar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UR5e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0292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expressed 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12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Manipulability + joint limit + collision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201401"/>
                  </a:ext>
                </a:extLst>
              </a:tr>
              <a:tr h="8070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PPO-Lagrangian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 (unconstrained)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PPO-Lagrangian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976271"/>
                  </a:ext>
                </a:extLst>
              </a:tr>
              <a:tr h="8893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033367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 dispersion reported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(5 seeds)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(5 seeds)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28056"/>
                  </a:ext>
                </a:extLst>
              </a:tr>
              <a:tr h="8186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Limit (d)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(d=25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(d=25 and d=15)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33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17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347" y="731674"/>
            <a:ext cx="512323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12771" y="1924624"/>
            <a:ext cx="14462458" cy="5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Three gaps in the closest published work and the design response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7221" y="8133145"/>
            <a:ext cx="16293557" cy="138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I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concrete gaps in the literature and our response to each: no control arm -- we add one; no dispersion -- we report five-seed spreads; one budget -- we test two.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FAD8C9-4324-5BD2-39F1-56FA36569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56660"/>
              </p:ext>
            </p:extLst>
          </p:nvPr>
        </p:nvGraphicFramePr>
        <p:xfrm>
          <a:off x="1912772" y="2781300"/>
          <a:ext cx="14462457" cy="499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6927">
                  <a:extLst>
                    <a:ext uri="{9D8B030D-6E8A-4147-A177-3AD203B41FA5}">
                      <a16:colId xmlns:a16="http://schemas.microsoft.com/office/drawing/2014/main" val="1158292444"/>
                    </a:ext>
                  </a:extLst>
                </a:gridCol>
                <a:gridCol w="5350939">
                  <a:extLst>
                    <a:ext uri="{9D8B030D-6E8A-4147-A177-3AD203B41FA5}">
                      <a16:colId xmlns:a16="http://schemas.microsoft.com/office/drawing/2014/main" val="1569507600"/>
                    </a:ext>
                  </a:extLst>
                </a:gridCol>
                <a:gridCol w="6104591">
                  <a:extLst>
                    <a:ext uri="{9D8B030D-6E8A-4147-A177-3AD203B41FA5}">
                      <a16:colId xmlns:a16="http://schemas.microsoft.com/office/drawing/2014/main" val="4104253261"/>
                    </a:ext>
                  </a:extLst>
                </a:gridCol>
              </a:tblGrid>
              <a:tr h="11193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the literature does</a:t>
                      </a:r>
                      <a:endParaRPr lang="en-GB" sz="28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thesis's response</a:t>
                      </a:r>
                      <a:endParaRPr lang="en-GB" sz="28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249139"/>
                  </a:ext>
                </a:extLst>
              </a:tr>
              <a:tr h="1312388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control 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Trains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cPPO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vs. PPO, reports the raw 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Control arm with λ pinned to zero — measures the implementation term directly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269881"/>
                  </a:ext>
                </a:extLst>
              </a:tr>
              <a:tr h="1132653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dispersion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Mostly use only 1 seed</a:t>
                      </a:r>
                      <a:endParaRPr lang="en-US" sz="2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FI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seeds for training, 3 for evaluation</a:t>
                      </a:r>
                      <a:endParaRPr lang="en-US" sz="28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685890"/>
                  </a:ext>
                </a:extLst>
              </a:tr>
              <a:tr h="1312388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budget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Fixes </a:t>
                      </a: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limit (d)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25</a:t>
                      </a: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lang="en-US" sz="2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cost limit d = 25 &amp; 15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 read against how hard the constraint </a:t>
                      </a:r>
                      <a:endParaRPr lang="en-GB" sz="28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94342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74665"/>
            <a:ext cx="329443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53764" y="1945618"/>
            <a:ext cx="9486848" cy="542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objectives of this thesis are,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5106" y="2473161"/>
            <a:ext cx="13158093" cy="2206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4902" lvl="2" indent="-323851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both the constrained and unconstrained agents</a:t>
            </a:r>
          </a:p>
          <a:p>
            <a:pPr marL="1104902" lvl="2" indent="-323851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 the constraint as a cost critic with lambda as a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multiplier</a:t>
            </a:r>
          </a:p>
          <a:p>
            <a:pPr marL="1104902" lvl="2" indent="-323851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different seeds both for training and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27102" y="6207552"/>
            <a:ext cx="11741498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a stated budget change safety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and its predictability?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31321"/>
              </p:ext>
            </p:extLst>
          </p:nvPr>
        </p:nvGraphicFramePr>
        <p:xfrm>
          <a:off x="1681218" y="5899558"/>
          <a:ext cx="7615182" cy="35111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97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Term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Threshold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Status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Collision keep-out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5 cm above table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3362A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monitored, inactive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Joint-limit margin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0.175 rad (10°)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>
                          <a:solidFill>
                            <a:srgbClr val="31884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active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Singularity floor 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w &lt; 0.06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200" dirty="0">
                          <a:solidFill>
                            <a:srgbClr val="31884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active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3128" y="5223681"/>
            <a:ext cx="8677062" cy="48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 COST — </a:t>
            </a:r>
            <a:r>
              <a:rPr lang="en-FI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TERMS, </a:t>
            </a:r>
            <a:r>
              <a:rPr lang="en-FI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BUDGET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826160-8C2C-8D6E-E980-81BC5FCBDF6D}"/>
              </a:ext>
            </a:extLst>
          </p:cNvPr>
          <p:cNvGrpSpPr/>
          <p:nvPr/>
        </p:nvGrpSpPr>
        <p:grpSpPr>
          <a:xfrm>
            <a:off x="1828800" y="1697224"/>
            <a:ext cx="15697200" cy="2836676"/>
            <a:chOff x="1828800" y="1697224"/>
            <a:chExt cx="15697200" cy="2836676"/>
          </a:xfrm>
        </p:grpSpPr>
        <p:sp>
          <p:nvSpPr>
            <p:cNvPr id="4" name="TextBox 4"/>
            <p:cNvSpPr txBox="1"/>
            <p:nvPr/>
          </p:nvSpPr>
          <p:spPr>
            <a:xfrm>
              <a:off x="1912771" y="1697224"/>
              <a:ext cx="14462458" cy="61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TASK: </a:t>
              </a:r>
              <a:r>
                <a:rPr lang="en-US" sz="34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Pick a cube, lift it, and hold it to the target position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828800" y="2476500"/>
              <a:ext cx="7915442" cy="19945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81051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Isaac Sim 5.0 + Isaac Lab </a:t>
              </a:r>
              <a:r>
                <a:rPr lang="en-FI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2.3.1</a:t>
              </a:r>
            </a:p>
            <a:p>
              <a:pPr marL="781051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 False gripper action</a:t>
              </a:r>
              <a:endParaRPr lang="en-FI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781051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Parallel </a:t>
              </a:r>
              <a:r>
                <a:rPr lang="en-US" sz="3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envs</a:t>
              </a:r>
              <a:r>
                <a:rPr lang="en-US" sz="30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: 4096, 1500 iterations per run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DA565F-FFB0-9500-7C29-C4B32CBB8F01}"/>
                </a:ext>
              </a:extLst>
            </p:cNvPr>
            <p:cNvSpPr txBox="1"/>
            <p:nvPr/>
          </p:nvSpPr>
          <p:spPr>
            <a:xfrm>
              <a:off x="9610558" y="2447047"/>
              <a:ext cx="7915442" cy="2086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47702" lvl="1" indent="-323851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 pose is given directly, not from vision</a:t>
              </a:r>
            </a:p>
            <a:p>
              <a:pPr marL="647702" lvl="1" indent="-323851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Episode: 5.0 s </a:t>
              </a:r>
              <a:endParaRPr lang="en-FI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2" lvl="1" indent="-323851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PPO---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</a:t>
              </a: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(d=25)----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</a:t>
              </a: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(d=15)</a:t>
              </a:r>
            </a:p>
          </p:txBody>
        </p:sp>
      </p:grpSp>
      <p:sp>
        <p:nvSpPr>
          <p:cNvPr id="9" name="TextBox 4">
            <a:extLst>
              <a:ext uri="{FF2B5EF4-FFF2-40B4-BE49-F238E27FC236}">
                <a16:creationId xmlns:a16="http://schemas.microsoft.com/office/drawing/2014/main" id="{DFDD2EEC-D8FC-1744-49A9-F33E8579288E}"/>
              </a:ext>
            </a:extLst>
          </p:cNvPr>
          <p:cNvSpPr txBox="1"/>
          <p:nvPr/>
        </p:nvSpPr>
        <p:spPr>
          <a:xfrm>
            <a:off x="9632167" y="5176596"/>
            <a:ext cx="8407653" cy="543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 </a:t>
            </a:r>
            <a:r>
              <a:rPr lang="en-FI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ARMS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× 5</a:t>
            </a:r>
            <a:r>
              <a:rPr lang="en-FI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SEEDS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= 15 </a:t>
            </a:r>
            <a:r>
              <a:rPr lang="en-FI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TRAINED POLICIES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B4C84ABA-A6D3-25FF-45E8-3DFDDAA75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89725"/>
              </p:ext>
            </p:extLst>
          </p:nvPr>
        </p:nvGraphicFramePr>
        <p:xfrm>
          <a:off x="10287000" y="5899558"/>
          <a:ext cx="6858000" cy="3511142"/>
        </p:xfrm>
        <a:graphic>
          <a:graphicData uri="http://schemas.openxmlformats.org/drawingml/2006/table">
            <a:tbl>
              <a:tblPr/>
              <a:tblGrid>
                <a:gridCol w="266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9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024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Arm</a:t>
                      </a:r>
                      <a:endParaRPr lang="en-US" sz="1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2800" b="1" dirty="0" err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cost_limit</a:t>
                      </a:r>
                      <a:endParaRPr lang="en-US" sz="1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λmax</a:t>
                      </a:r>
                      <a:endParaRPr lang="en-US" sz="1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231"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PPO (baseline)</a:t>
                      </a:r>
                      <a:endParaRPr lang="en-US" sz="1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lang="en-US" sz="1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551"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cPPO, d = 25</a:t>
                      </a:r>
                      <a:endParaRPr lang="en-US" sz="1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lang="en-US" sz="1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643"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cPPO, d = 15</a:t>
                      </a:r>
                      <a:endParaRPr lang="en-US" sz="1000"/>
                    </a:p>
                  </a:txBody>
                  <a:tcPr marL="190500" marR="190500" marT="190500" marB="19050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lang="en-US" sz="1000" dirty="0"/>
                    </a:p>
                  </a:txBody>
                  <a:tcPr marL="190500" marR="190500" marT="190500" marB="19050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4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723900"/>
            <a:ext cx="38006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6000" y="1790700"/>
            <a:ext cx="5407676" cy="61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PPO → PPO-LAGRANGIAN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2681550"/>
            <a:ext cx="6830032" cy="529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PPO-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adds one term: a cost critic estimates constraint violation, and a Lagrange multiplier λ trades reward against it — rising while over budget, settling once within it.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network, same hyperparameters, same environment — only the constraint differs across all three arms.</a:t>
            </a:r>
          </a:p>
          <a:p>
            <a:pPr algn="l">
              <a:lnSpc>
                <a:spcPts val="350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635" y="723900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35354" y="3996158"/>
            <a:ext cx="15217292" cy="5837082"/>
            <a:chOff x="0" y="0"/>
            <a:chExt cx="20289723" cy="7782777"/>
          </a:xfrm>
        </p:grpSpPr>
        <p:grpSp>
          <p:nvGrpSpPr>
            <p:cNvPr id="4" name="Group 4"/>
            <p:cNvGrpSpPr/>
            <p:nvPr/>
          </p:nvGrpSpPr>
          <p:grpSpPr>
            <a:xfrm>
              <a:off x="5138580" y="134272"/>
              <a:ext cx="743230" cy="62402"/>
              <a:chOff x="0" y="0"/>
              <a:chExt cx="332740" cy="2794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1A1A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903639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8824347" y="134272"/>
              <a:ext cx="743230" cy="62402"/>
              <a:chOff x="0" y="0"/>
              <a:chExt cx="332740" cy="279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257A8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12418820" y="134272"/>
              <a:ext cx="743230" cy="62402"/>
              <a:chOff x="0" y="0"/>
              <a:chExt cx="332740" cy="2794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803D"/>
              </a:solidFill>
            </p:spPr>
          </p:sp>
        </p:grpSp>
        <p:sp>
          <p:nvSpPr>
            <p:cNvPr id="11" name="Freeform 11"/>
            <p:cNvSpPr/>
            <p:nvPr/>
          </p:nvSpPr>
          <p:spPr>
            <a:xfrm>
              <a:off x="7997467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5018882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502951" y="1587368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2951" y="2753328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2951" y="3919310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2951" y="5085291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2951" y="6251251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123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2904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38341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62434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89609" y="1137426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89609" y="2415872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89609" y="3694339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9609" y="4972806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9609" y="6251251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20074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6875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02312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26405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098976" y="213456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098976" y="350679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098976" y="487902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98976" y="6251251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4045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630846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166283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92872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56843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320815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 rot="-5400000">
              <a:off x="-1207162" y="3737786"/>
              <a:ext cx="2824712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contribution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45569" y="597941"/>
              <a:ext cx="2519531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(a) Singularity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4027" y="597941"/>
              <a:ext cx="2387578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(b) Joint limit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638825" y="597941"/>
              <a:ext cx="2182287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(c) Collision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2929" y="-57150"/>
              <a:ext cx="2092716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PPO (baseline)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08718" y="-57150"/>
              <a:ext cx="1999315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 (d = 25)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403191" y="-57150"/>
              <a:ext cx="1999315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 (d = 15)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99965" y="1238641"/>
            <a:ext cx="9288069" cy="2262761"/>
            <a:chOff x="0" y="0"/>
            <a:chExt cx="12384092" cy="3017015"/>
          </a:xfrm>
        </p:grpSpPr>
        <p:sp>
          <p:nvSpPr>
            <p:cNvPr id="49" name="TextBox 49"/>
            <p:cNvSpPr txBox="1"/>
            <p:nvPr/>
          </p:nvSpPr>
          <p:spPr>
            <a:xfrm>
              <a:off x="3813827" y="-66675"/>
              <a:ext cx="3648828" cy="632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2785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Mean Reward: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807549"/>
              <a:ext cx="3813827" cy="2209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D139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PPO(baseline) : </a:t>
              </a:r>
            </a:p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3362A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cPPO(d=25) : </a:t>
              </a:r>
            </a:p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31884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cPPO(d=15) : 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73382" y="-66675"/>
              <a:ext cx="4510711" cy="632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r>
                <a:rPr lang="en-US" sz="2785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Lifting-object reward: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77824" y="807305"/>
              <a:ext cx="1320834" cy="2209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133.06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132.18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134.09 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23361" y="807305"/>
              <a:ext cx="1210752" cy="2209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9.467 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9.437 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9.441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635" y="711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9830" y="9368103"/>
            <a:ext cx="5294211" cy="44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*Tail mean(last 10% of the training  data)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3140293"/>
            <a:ext cx="17079405" cy="13613709"/>
          </a:xfrm>
          <a:custGeom>
            <a:avLst/>
            <a:gdLst/>
            <a:ahLst/>
            <a:cxnLst/>
            <a:rect l="l" t="t" r="r" b="b"/>
            <a:pathLst>
              <a:path w="17079405" h="13613709">
                <a:moveTo>
                  <a:pt x="0" y="0"/>
                </a:moveTo>
                <a:lnTo>
                  <a:pt x="17079405" y="0"/>
                </a:lnTo>
                <a:lnTo>
                  <a:pt x="17079405" y="13613709"/>
                </a:lnTo>
                <a:lnTo>
                  <a:pt x="0" y="13613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51074" y="1572663"/>
            <a:ext cx="13437781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constraint costs nothing measurable</a:t>
            </a:r>
          </a:p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Constraining the policy did not cost task performance at either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15466" y="2127517"/>
            <a:ext cx="10857068" cy="7853279"/>
          </a:xfrm>
          <a:custGeom>
            <a:avLst/>
            <a:gdLst/>
            <a:ahLst/>
            <a:cxnLst/>
            <a:rect l="l" t="t" r="r" b="b"/>
            <a:pathLst>
              <a:path w="10857068" h="7853279">
                <a:moveTo>
                  <a:pt x="0" y="0"/>
                </a:moveTo>
                <a:lnTo>
                  <a:pt x="10857068" y="0"/>
                </a:lnTo>
                <a:lnTo>
                  <a:pt x="10857068" y="7853280"/>
                </a:lnTo>
                <a:lnTo>
                  <a:pt x="0" y="785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5468" y="711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9326" y="1215763"/>
            <a:ext cx="10389348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Safety: fewer true singularities, zero joint-limit contact</a:t>
            </a:r>
          </a:p>
          <a:p>
            <a:pPr algn="ctr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674665"/>
            <a:ext cx="318184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1317" y="1650423"/>
            <a:ext cx="14502802" cy="541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stated budget changes what a policy does — mostly by making it predictable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27066" y="2147713"/>
            <a:ext cx="13711304" cy="249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Constraining the policy reduces unsafe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no measurable task cost. </a:t>
            </a:r>
          </a:p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unanticipated effect is on consistency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7723" y="5140476"/>
            <a:ext cx="386764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51543" y="6138863"/>
            <a:ext cx="12564658" cy="1773307"/>
            <a:chOff x="0" y="-400050"/>
            <a:chExt cx="16752877" cy="2364409"/>
          </a:xfrm>
        </p:grpSpPr>
        <p:sp>
          <p:nvSpPr>
            <p:cNvPr id="7" name="TextBox 7"/>
            <p:cNvSpPr txBox="1"/>
            <p:nvPr/>
          </p:nvSpPr>
          <p:spPr>
            <a:xfrm>
              <a:off x="0" y="-400050"/>
              <a:ext cx="6288796" cy="2279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IBVS systems</a:t>
              </a:r>
            </a:p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Sim-to-real application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9246" y="-400049"/>
              <a:ext cx="7663631" cy="2364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PID 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Lagrangian</a:t>
              </a: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Seeds implementations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2969"/>
            <a:ext cx="419255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40996"/>
            <a:ext cx="16230600" cy="797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Altman, E. (1999). Constrained Markov Decision Processes. Chapman &amp; Hall/CRC.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Schulman, J. et al. (2017). Proximal Policy Optimization Algorithms. arXiv:1707.06347.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 et al. (2017). Constrained Policy Optimization. Proc. ICML, PMLR 70.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Ray, A.,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J., &amp; Amodei, D. (2019). Benchmarking Safe Exploration in Deep RL. OpenAI.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Stooke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A.,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J., &amp;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Abbeel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(2020). Responsive Safety in RL by PID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Methods. Proc. ICML, PMLR 119.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Yoshikawa, T. (1985). Manipulability of Robotic Mechanisms. Int. J. Robotics Research, 4(2).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Henderson, P. et al. (2018). Deep Reinforcement Learning That Matters. Proc. AAAI 32(1).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Khan, F. et al. (2026). RL for Precision Grasping and Safety-Critical Coordination in a Robotic Arm. Intelligent Service Robotics, 19(16).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Shen, Y. et al. (2022). RL-Based Reactive Obstacle Avoidance for Redundant Manipulators. Entropy, 24(2).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4665"/>
            <a:ext cx="41910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20002"/>
            <a:ext cx="16230600" cy="785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Ferreira, H. C. &amp; Barbosa, R. S. (2025). Deep RL for Adaptive Robotic Grasping in Simulated Dynamic Environments. Future Internet, 17(10).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Shahid, A. A. et al. (2022). Continuous Control Actions Learning and Adaptation for Robotic Manipulation through RL. Autonomous Robots, 46.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Mittal, M. et al. (2023). Orbit: A Unified Simulation Framework for Interactive Robot Learning Environments. IEEE RA-L, 8(6).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Rudin, N. et al. (2022). Learning to Walk in Minutes Using Massively Parallel Deep RL. Proc. CoRL, PMLR 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Universal Robots A/S (2023). UR5e Technical Specifications. Product datasheet.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Khan, M. M. (2025). Enhancing Manipulator Control Through IBVS Techniques Using ROS2. BSc thesis, KUET.</a:t>
            </a:r>
          </a:p>
          <a:p>
            <a:pPr algn="l">
              <a:lnSpc>
                <a:spcPts val="5249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0611" y="3571860"/>
            <a:ext cx="8946778" cy="15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9"/>
              </a:lnSpc>
            </a:pPr>
            <a:r>
              <a:rPr lang="en-US" sz="8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1252</Words>
  <Application>Microsoft Office PowerPoint</Application>
  <PresentationFormat>Custom</PresentationFormat>
  <Paragraphs>200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Times New Roman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slides</dc:title>
  <cp:lastModifiedBy>Touhid Me</cp:lastModifiedBy>
  <cp:revision>5</cp:revision>
  <dcterms:created xsi:type="dcterms:W3CDTF">2006-08-16T00:00:00Z</dcterms:created>
  <dcterms:modified xsi:type="dcterms:W3CDTF">2026-08-06T20:10:43Z</dcterms:modified>
  <dc:identifier>DAHRbLu5xN4</dc:identifier>
</cp:coreProperties>
</file>